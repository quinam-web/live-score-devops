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4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77" r:id="rId6"/>
    <p:sldId id="27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81" r:id="rId19"/>
    <p:sldId id="271" r:id="rId20"/>
    <p:sldId id="279" r:id="rId21"/>
    <p:sldId id="282" r:id="rId22"/>
    <p:sldId id="283" r:id="rId23"/>
    <p:sldId id="272" r:id="rId24"/>
    <p:sldId id="273" r:id="rId25"/>
    <p:sldId id="284" r:id="rId26"/>
    <p:sldId id="285" r:id="rId27"/>
    <p:sldId id="286" r:id="rId28"/>
    <p:sldId id="274" r:id="rId29"/>
    <p:sldId id="275" r:id="rId30"/>
    <p:sldId id="276" r:id="rId31"/>
  </p:sldIdLst>
  <p:sldSz cx="18288000" cy="10287000"/>
  <p:notesSz cx="6858000" cy="9144000"/>
  <p:embeddedFontLst>
    <p:embeddedFont>
      <p:font typeface="Times New Roman MT Bold" charset="0"/>
      <p:regular r:id="rId33"/>
    </p:embeddedFont>
    <p:embeddedFont>
      <p:font typeface="SimSun" pitchFamily="2" charset="-122"/>
      <p:regular r:id="rId34"/>
    </p:embeddedFont>
    <p:embeddedFont>
      <p:font typeface="Cambria" pitchFamily="18" charset="0"/>
      <p:regular r:id="rId35"/>
      <p:bold r:id="rId36"/>
      <p:italic r:id="rId37"/>
      <p:boldItalic r:id="rId38"/>
    </p:embeddedFont>
    <p:embeddedFont>
      <p:font typeface="Arial Unicode MS" pitchFamily="34" charset="-128"/>
      <p:regular r:id="rId39"/>
    </p:embeddedFont>
    <p:embeddedFont>
      <p:font typeface="Calibri" pitchFamily="34" charset="0"/>
      <p:regular r:id="rId40"/>
      <p:bold r:id="rId41"/>
      <p:italic r:id="rId42"/>
      <p:boldItalic r:id="rId43"/>
    </p:embeddedFont>
    <p:embeddedFont>
      <p:font typeface="Noto Sans Bold" charset="0"/>
      <p:regular r:id="rId44"/>
    </p:embeddedFont>
    <p:embeddedFont>
      <p:font typeface="Noto Sans" charset="0"/>
      <p:regular r:id="rId45"/>
    </p:embeddedFont>
    <p:embeddedFont>
      <p:font typeface="Times New Roman MT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46" d="100"/>
          <a:sy n="46" d="100"/>
        </p:scale>
        <p:origin x="-75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DE301-D6BB-43C4-8470-5EAB8D2E5089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149B7-1BA6-4F8B-8E51-3DC8C9A7DA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9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2149B7-1BA6-4F8B-8E51-3DC8C9A7DA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022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5457" y="333098"/>
            <a:ext cx="2617087" cy="2463141"/>
          </a:xfrm>
          <a:custGeom>
            <a:avLst/>
            <a:gdLst/>
            <a:ahLst/>
            <a:cxnLst/>
            <a:rect l="l" t="t" r="r" b="b"/>
            <a:pathLst>
              <a:path w="2617087" h="2463141">
                <a:moveTo>
                  <a:pt x="0" y="0"/>
                </a:moveTo>
                <a:lnTo>
                  <a:pt x="2617086" y="0"/>
                </a:lnTo>
                <a:lnTo>
                  <a:pt x="2617086" y="2463140"/>
                </a:lnTo>
                <a:lnTo>
                  <a:pt x="0" y="2463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64057" y="4527804"/>
            <a:ext cx="10978009" cy="12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Báo</a:t>
            </a:r>
            <a:r>
              <a:rPr lang="en-US" sz="7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cáo</a:t>
            </a:r>
            <a:r>
              <a:rPr lang="en-US" sz="7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đồ</a:t>
            </a:r>
            <a:r>
              <a:rPr lang="en-US" sz="7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án</a:t>
            </a:r>
            <a:r>
              <a:rPr lang="en-US" sz="7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chuyên</a:t>
            </a:r>
            <a:r>
              <a:rPr lang="en-US" sz="7000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7000" dirty="0" err="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ngành</a:t>
            </a:r>
            <a:endParaRPr lang="en-US" sz="7000" dirty="0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76759" y="5899432"/>
            <a:ext cx="14734483" cy="104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Đề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tài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Tìm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hiểu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về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DevOps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và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quy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5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trình</a:t>
            </a:r>
            <a:r>
              <a:rPr lang="en-US" sz="5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CI/CD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1226" y="8196803"/>
            <a:ext cx="8442218" cy="190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Giảng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viên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hướng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dẫn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4899"/>
              </a:lnSpc>
            </a:pP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TS.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Nguyễn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Bảo</a:t>
            </a:r>
            <a:r>
              <a:rPr lang="en-US" sz="34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499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Ân</a:t>
            </a:r>
            <a:endParaRPr lang="en-US" sz="3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  <a:p>
            <a:pPr algn="ctr">
              <a:lnSpc>
                <a:spcPts val="4899"/>
              </a:lnSpc>
            </a:pPr>
            <a:endParaRPr lang="en-US" sz="3499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663761" y="7931150"/>
            <a:ext cx="5312128" cy="2433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9"/>
              </a:lnSpc>
            </a:pP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Sinh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viên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thực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hiện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</a:t>
            </a:r>
          </a:p>
          <a:p>
            <a:pPr algn="l">
              <a:lnSpc>
                <a:spcPts val="4719"/>
              </a:lnSpc>
            </a:pP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Thái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Quí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Nam - 11012218</a:t>
            </a:r>
          </a:p>
          <a:p>
            <a:pPr algn="l">
              <a:lnSpc>
                <a:spcPts val="4719"/>
              </a:lnSpc>
            </a:pP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Mã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</a:t>
            </a:r>
            <a:r>
              <a:rPr lang="en-US" sz="3371" b="1" dirty="0" err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lớp</a:t>
            </a:r>
            <a:r>
              <a:rPr lang="en-US" sz="3371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: DA22TTB</a:t>
            </a:r>
          </a:p>
          <a:p>
            <a:pPr algn="ctr">
              <a:lnSpc>
                <a:spcPts val="4719"/>
              </a:lnSpc>
            </a:pPr>
            <a:endParaRPr lang="en-US" sz="3371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47096" y="3091513"/>
            <a:ext cx="9758614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TRƯỜNG KĨ THUẬT VÀ CÔNG NGHỆ</a:t>
            </a:r>
          </a:p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KHOA CÔNG NGHỆ THÔNG TIN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5624" y="529659"/>
            <a:ext cx="672097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Lý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do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chọn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đề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tài</a:t>
            </a:r>
            <a:endParaRPr lang="en-US" sz="5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4493" y="1679600"/>
            <a:ext cx="16205895" cy="7851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7950" lvl="1" indent="-428975" algn="just">
              <a:lnSpc>
                <a:spcPts val="5563"/>
              </a:lnSpc>
              <a:buAutoNum type="arabicPeriod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Phần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mềm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đại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yêu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cầu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phát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hành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nhanh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–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ổn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định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–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liên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tục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857950" lvl="1" indent="-428975" algn="just">
              <a:lnSpc>
                <a:spcPts val="5563"/>
              </a:lnSpc>
              <a:buAutoNum type="arabicPeriod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khai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thủ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công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marL="1943100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Tốn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thời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gian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943100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Dễ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sai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sót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do con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người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943100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Lỗi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“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chạy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trên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máy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tôi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nhưng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lỗi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trên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server”</a:t>
            </a:r>
          </a:p>
          <a:p>
            <a:pPr marL="428975" lvl="1" algn="just">
              <a:lnSpc>
                <a:spcPts val="5563"/>
              </a:lnSpc>
            </a:pP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DevOps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&amp; CI/CD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giúp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marL="1914875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Tự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động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hóa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quy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trình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914875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Giảm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lỗi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914875" lvl="3" indent="-571500" algn="just">
              <a:lnSpc>
                <a:spcPts val="5563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Rút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ngắn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thời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khai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5563"/>
              </a:lnSpc>
            </a:pPr>
            <a:endParaRPr lang="en-US" sz="3973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47800" y="165100"/>
            <a:ext cx="12691002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Mục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tiêu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nghiên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cứu</a:t>
            </a:r>
            <a:endParaRPr lang="en-US" sz="5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05000" y="1194561"/>
            <a:ext cx="16383000" cy="87203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28168" lvl="1" algn="just">
              <a:lnSpc>
                <a:spcPts val="6849"/>
              </a:lnSpc>
            </a:pPr>
            <a:r>
              <a:rPr lang="en-US" sz="4892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Hiểu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rõ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DevOps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gì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Quy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trình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CI/CD</a:t>
            </a:r>
          </a:p>
          <a:p>
            <a:pPr marL="528168" lvl="1" algn="just">
              <a:lnSpc>
                <a:spcPts val="6849"/>
              </a:lnSpc>
            </a:pP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Xây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dựng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dụng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Web Java Spring Boot</a:t>
            </a: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Quy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trình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CI/CD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hoàn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chỉnh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528168" lvl="1" algn="just">
              <a:lnSpc>
                <a:spcPts val="6849"/>
              </a:lnSpc>
            </a:pP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khai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:</a:t>
            </a: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dụng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thực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tế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lên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Cloud (Render)</a:t>
            </a:r>
          </a:p>
          <a:p>
            <a:pPr marL="1671168" lvl="2" indent="-685800" algn="just">
              <a:lnSpc>
                <a:spcPts val="6849"/>
              </a:lnSpc>
              <a:buFont typeface="Wingdings" pitchFamily="2" charset="2"/>
              <a:buChar char="§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Tự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động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100%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từ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code → deploy</a:t>
            </a:r>
          </a:p>
          <a:p>
            <a:pPr algn="ctr">
              <a:lnSpc>
                <a:spcPts val="6849"/>
              </a:lnSpc>
            </a:pPr>
            <a:endParaRPr lang="en-US" sz="4892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1203762"/>
            <a:ext cx="17373600" cy="9171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7153"/>
              </a:lnSpc>
            </a:pPr>
            <a:r>
              <a:rPr lang="en-US" sz="5109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Đối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tượng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nghiên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cứu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DevOps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CI/CD</a:t>
            </a: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Docker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GitHub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Actions</a:t>
            </a: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Cloud Render</a:t>
            </a:r>
          </a:p>
          <a:p>
            <a:pPr algn="just">
              <a:lnSpc>
                <a:spcPts val="7153"/>
              </a:lnSpc>
            </a:pP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2.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Phạm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vi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nghiên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cứu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dụng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demo: Website Live Score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bóng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đá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1103210" lvl="1" indent="-551605" algn="just">
              <a:lnSpc>
                <a:spcPts val="7153"/>
              </a:lnSpc>
              <a:buFont typeface="Arial"/>
              <a:buChar char="•"/>
            </a:pP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Single Container (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không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dùng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Kubernetes</a:t>
            </a:r>
            <a:r>
              <a:rPr lang="en-US" sz="4000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)</a:t>
            </a:r>
          </a:p>
          <a:p>
            <a:pPr algn="just">
              <a:lnSpc>
                <a:spcPts val="7153"/>
              </a:lnSpc>
            </a:pPr>
            <a:endParaRPr lang="en-US" sz="510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165100"/>
            <a:ext cx="1106330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Đối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tượng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và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phạm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vi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nghiên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cứu</a:t>
            </a:r>
            <a:endParaRPr lang="en-US" sz="5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001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 err="1" smtClean="0"/>
              <a:t>Cấu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trúc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đồ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án</a:t>
            </a:r>
            <a:endParaRPr lang="en-US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857500"/>
            <a:ext cx="17830800" cy="61341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Chương 1: Tổng quan:</a:t>
            </a:r>
            <a:r>
              <a:rPr lang="vi-VN" dirty="0"/>
              <a:t> Lý do, mục tiêu, phạm vi.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Chương 2: Cơ sở lý thuyết:</a:t>
            </a:r>
            <a:r>
              <a:rPr lang="vi-VN" dirty="0"/>
              <a:t> Nghiên cứu về DevOps, Docker, CI/CD.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Chương 3: Hiện thực hóa nghiên cứu:</a:t>
            </a:r>
            <a:r>
              <a:rPr lang="vi-VN" dirty="0"/>
              <a:t> Xây dựng ứng dụng và cấu hình hệ thống.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Chương 4: Kết quả nghiên cứu:</a:t>
            </a:r>
            <a:r>
              <a:rPr lang="vi-VN" dirty="0"/>
              <a:t> Demo sản phẩm và đánh giá hiệu quả.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vi-VN" b="1" dirty="0"/>
              <a:t>Chương 5: Kết luận và hướng phát triển:</a:t>
            </a:r>
            <a:r>
              <a:rPr lang="vi-VN" dirty="0"/>
              <a:t> Tổng kết và đề xuất.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5972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000" b="1" dirty="0" err="1" smtClean="0"/>
              <a:t>Phương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pháp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thực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hiện</a:t>
            </a:r>
            <a:endParaRPr lang="en-US" sz="5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7526000" cy="84201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000" b="1" dirty="0" smtClean="0">
                <a:latin typeface="+mj-lt"/>
              </a:rPr>
              <a:t>1. </a:t>
            </a:r>
            <a:r>
              <a:rPr lang="vi-VN" sz="4000" b="1" dirty="0" smtClean="0">
                <a:latin typeface="+mj-lt"/>
              </a:rPr>
              <a:t>Nghiên </a:t>
            </a:r>
            <a:r>
              <a:rPr lang="vi-VN" sz="4000" b="1" dirty="0">
                <a:latin typeface="+mj-lt"/>
              </a:rPr>
              <a:t>cứu lý thuyết:</a:t>
            </a:r>
            <a:r>
              <a:rPr lang="vi-VN" sz="4000" dirty="0">
                <a:latin typeface="+mj-lt"/>
              </a:rPr>
              <a:t> Tổng hợp tài liệu chuyên ngành và tài liệu kỹ thuật (Docker, GitHub Docs).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b="1" dirty="0" smtClean="0">
                <a:latin typeface="+mj-lt"/>
              </a:rPr>
              <a:t>2. </a:t>
            </a:r>
            <a:r>
              <a:rPr lang="vi-VN" sz="4000" b="1" dirty="0" smtClean="0">
                <a:latin typeface="+mj-lt"/>
              </a:rPr>
              <a:t>Phương </a:t>
            </a:r>
            <a:r>
              <a:rPr lang="vi-VN" sz="4000" b="1" dirty="0">
                <a:latin typeface="+mj-lt"/>
              </a:rPr>
              <a:t>pháp thực nghiệm (4 Bước):</a:t>
            </a:r>
            <a:endParaRPr lang="vi-VN" sz="4000" dirty="0">
              <a:latin typeface="+mj-lt"/>
            </a:endParaRPr>
          </a:p>
          <a:p>
            <a:pPr lvl="1">
              <a:lnSpc>
                <a:spcPct val="150000"/>
              </a:lnSpc>
            </a:pPr>
            <a:r>
              <a:rPr lang="vi-VN" sz="3600" dirty="0">
                <a:latin typeface="+mj-lt"/>
              </a:rPr>
              <a:t>B1: Xây dựng App (Java Spring Boot).</a:t>
            </a:r>
          </a:p>
          <a:p>
            <a:pPr lvl="1">
              <a:lnSpc>
                <a:spcPct val="150000"/>
              </a:lnSpc>
            </a:pPr>
            <a:r>
              <a:rPr lang="vi-VN" sz="3600" dirty="0">
                <a:latin typeface="+mj-lt"/>
              </a:rPr>
              <a:t>B2: Đóng gói (Docker).</a:t>
            </a:r>
          </a:p>
          <a:p>
            <a:pPr lvl="1">
              <a:lnSpc>
                <a:spcPct val="150000"/>
              </a:lnSpc>
            </a:pPr>
            <a:r>
              <a:rPr lang="vi-VN" sz="3600" dirty="0">
                <a:latin typeface="+mj-lt"/>
              </a:rPr>
              <a:t>B3: Tự động hóa (GitHub Actions).</a:t>
            </a:r>
          </a:p>
          <a:p>
            <a:pPr lvl="1">
              <a:lnSpc>
                <a:spcPct val="150000"/>
              </a:lnSpc>
            </a:pPr>
            <a:r>
              <a:rPr lang="vi-VN" sz="3600" dirty="0">
                <a:latin typeface="+mj-lt"/>
              </a:rPr>
              <a:t>B4: Triển khai (Render Cloud).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4000" b="1" dirty="0" smtClean="0">
                <a:latin typeface="+mj-lt"/>
              </a:rPr>
              <a:t>3. </a:t>
            </a:r>
            <a:r>
              <a:rPr lang="vi-VN" sz="4000" b="1" dirty="0" smtClean="0">
                <a:latin typeface="+mj-lt"/>
              </a:rPr>
              <a:t>Đánh </a:t>
            </a:r>
            <a:r>
              <a:rPr lang="vi-VN" sz="4000" b="1" dirty="0">
                <a:latin typeface="+mj-lt"/>
              </a:rPr>
              <a:t>giá:</a:t>
            </a:r>
            <a:r>
              <a:rPr lang="vi-VN" sz="4000" dirty="0">
                <a:latin typeface="+mj-lt"/>
              </a:rPr>
              <a:t> Kiểm thử sự ổn định và tốc độ của Pipeline.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30305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" y="1544026"/>
            <a:ext cx="17983200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4000" b="1" dirty="0">
                <a:latin typeface="+mj-lt"/>
              </a:rPr>
              <a:t>Khái niệm:</a:t>
            </a:r>
            <a:r>
              <a:rPr lang="vi-VN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DevOps</a:t>
            </a:r>
            <a:r>
              <a:rPr lang="en-US" sz="4000" dirty="0">
                <a:latin typeface="+mj-lt"/>
              </a:rPr>
              <a:t> (</a:t>
            </a:r>
            <a:r>
              <a:rPr lang="en-US" sz="4000" dirty="0" err="1">
                <a:latin typeface="+mj-lt"/>
              </a:rPr>
              <a:t>kết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hợp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của</a:t>
            </a:r>
            <a:r>
              <a:rPr lang="en-US" sz="4000" dirty="0">
                <a:latin typeface="+mj-lt"/>
              </a:rPr>
              <a:t> "Development" - </a:t>
            </a:r>
            <a:r>
              <a:rPr lang="en-US" sz="4000" dirty="0" err="1">
                <a:latin typeface="+mj-lt"/>
              </a:rPr>
              <a:t>Phát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triển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"Operations" - </a:t>
            </a:r>
            <a:r>
              <a:rPr lang="en-US" sz="4000" dirty="0" err="1">
                <a:latin typeface="+mj-lt"/>
              </a:rPr>
              <a:t>Vận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hành</a:t>
            </a:r>
            <a:r>
              <a:rPr lang="en-US" sz="4000" dirty="0">
                <a:latin typeface="+mj-lt"/>
              </a:rPr>
              <a:t>) </a:t>
            </a:r>
            <a:r>
              <a:rPr lang="en-US" sz="4000" dirty="0" err="1">
                <a:latin typeface="+mj-lt"/>
              </a:rPr>
              <a:t>không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chỉ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một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cụ</a:t>
            </a:r>
            <a:r>
              <a:rPr lang="en-US" sz="4000" dirty="0">
                <a:latin typeface="+mj-lt"/>
              </a:rPr>
              <a:t> hay </a:t>
            </a:r>
            <a:r>
              <a:rPr lang="en-US" sz="4000" dirty="0" err="1">
                <a:latin typeface="+mj-lt"/>
              </a:rPr>
              <a:t>một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vị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trí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công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việc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mà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một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tập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hợp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nguyên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lý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văn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hóa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phương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pháp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thực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hành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nhằm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rút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ngắn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khoảng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giữa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đội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ngũ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phát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triển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phần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mềm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đội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ngũ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vận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hành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hệ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thống</a:t>
            </a:r>
            <a:r>
              <a:rPr lang="en-US" sz="4000" dirty="0">
                <a:latin typeface="+mj-lt"/>
              </a:rPr>
              <a:t> CNTT.</a:t>
            </a:r>
          </a:p>
          <a:p>
            <a:pPr algn="just">
              <a:lnSpc>
                <a:spcPct val="150000"/>
              </a:lnSpc>
            </a:pPr>
            <a:r>
              <a:rPr lang="vi-VN" sz="4000" b="1" dirty="0" smtClean="0">
                <a:latin typeface="+mj-lt"/>
              </a:rPr>
              <a:t>Bản </a:t>
            </a:r>
            <a:r>
              <a:rPr lang="vi-VN" sz="4000" b="1" dirty="0">
                <a:latin typeface="+mj-lt"/>
              </a:rPr>
              <a:t>chất:</a:t>
            </a:r>
            <a:r>
              <a:rPr lang="vi-VN" sz="4000" dirty="0">
                <a:latin typeface="+mj-lt"/>
              </a:rPr>
              <a:t> Không chỉ là công cụ, mà là văn hóa và quy trình làm việc.</a:t>
            </a:r>
          </a:p>
          <a:p>
            <a:pPr algn="just">
              <a:lnSpc>
                <a:spcPct val="150000"/>
              </a:lnSpc>
            </a:pPr>
            <a:r>
              <a:rPr lang="vi-VN" sz="4000" b="1" dirty="0">
                <a:latin typeface="+mj-lt"/>
              </a:rPr>
              <a:t>Mục tiêu:</a:t>
            </a:r>
            <a:r>
              <a:rPr lang="vi-VN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Mục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tiêu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cốt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lõi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của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DevOps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rút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ngắn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vòng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đời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phát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triển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hệ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thống</a:t>
            </a:r>
            <a:r>
              <a:rPr lang="en-US" sz="4000" dirty="0">
                <a:latin typeface="+mj-lt"/>
              </a:rPr>
              <a:t> (SDLC), </a:t>
            </a:r>
            <a:r>
              <a:rPr lang="en-US" sz="4000" dirty="0" err="1">
                <a:latin typeface="+mj-lt"/>
              </a:rPr>
              <a:t>đồng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thời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cung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cấp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tính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năng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bản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sửa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lỗi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bản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cập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nhật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thường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xuyên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hơn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phù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hợp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chặt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chẽ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với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các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mục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tiêu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kinh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doanh</a:t>
            </a:r>
            <a:r>
              <a:rPr lang="en-US" sz="4000" dirty="0">
                <a:latin typeface="+mj-lt"/>
              </a:rPr>
              <a:t>, </a:t>
            </a:r>
            <a:r>
              <a:rPr lang="en-US" sz="4000" dirty="0" err="1">
                <a:latin typeface="+mj-lt"/>
              </a:rPr>
              <a:t>nhưng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vẫn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đảm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bảo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tính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ổn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định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và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bảo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mật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của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hệ</a:t>
            </a:r>
            <a:r>
              <a:rPr lang="en-US" sz="4000" dirty="0">
                <a:latin typeface="+mj-lt"/>
              </a:rPr>
              <a:t> </a:t>
            </a:r>
            <a:r>
              <a:rPr lang="en-US" sz="4000" dirty="0" err="1">
                <a:latin typeface="+mj-lt"/>
              </a:rPr>
              <a:t>thống</a:t>
            </a:r>
            <a:r>
              <a:rPr lang="en-US" sz="4000" dirty="0" smtClean="0">
                <a:latin typeface="+mj-lt"/>
              </a:rPr>
              <a:t>.</a:t>
            </a:r>
            <a:endParaRPr lang="en-US" sz="4000" dirty="0">
              <a:latin typeface="+mj-l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32834" y="165100"/>
            <a:ext cx="8506365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quan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về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DevOps</a:t>
            </a:r>
            <a:endParaRPr lang="en-US" sz="5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09800" y="6210300"/>
            <a:ext cx="14249400" cy="2659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vi-VN" sz="4000" b="1" dirty="0">
                <a:latin typeface="+mj-lt"/>
              </a:rPr>
              <a:t>Dev:</a:t>
            </a:r>
            <a:r>
              <a:rPr lang="vi-VN" sz="4000" dirty="0">
                <a:latin typeface="+mj-lt"/>
              </a:rPr>
              <a:t> Plan – Code – Build – Test.</a:t>
            </a:r>
          </a:p>
          <a:p>
            <a:pPr>
              <a:lnSpc>
                <a:spcPct val="150000"/>
              </a:lnSpc>
            </a:pPr>
            <a:r>
              <a:rPr lang="vi-VN" sz="4000" b="1" dirty="0">
                <a:latin typeface="+mj-lt"/>
              </a:rPr>
              <a:t>Ops:</a:t>
            </a:r>
            <a:r>
              <a:rPr lang="vi-VN" sz="4000" dirty="0">
                <a:latin typeface="+mj-lt"/>
              </a:rPr>
              <a:t> Release – Deploy – Operate – Monitor.</a:t>
            </a:r>
          </a:p>
          <a:p>
            <a:pPr>
              <a:lnSpc>
                <a:spcPct val="150000"/>
              </a:lnSpc>
            </a:pPr>
            <a:r>
              <a:rPr lang="vi-VN" sz="4000" b="1" dirty="0">
                <a:latin typeface="+mj-lt"/>
              </a:rPr>
              <a:t>Đặc điểm:</a:t>
            </a:r>
            <a:r>
              <a:rPr lang="vi-VN" sz="4000" dirty="0">
                <a:latin typeface="+mj-lt"/>
              </a:rPr>
              <a:t> Quy trình lặp liên tục, khép kín.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927" y="165100"/>
            <a:ext cx="708659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smtClean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VÒNG 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ĐỜI DEVOPS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399" y="1112280"/>
            <a:ext cx="10942927" cy="479322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73162" y="165100"/>
            <a:ext cx="6280037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Quy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5000" b="1" dirty="0" err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trình</a:t>
            </a:r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CI/CD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382" y="1022613"/>
            <a:ext cx="12065000" cy="5478735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6501348"/>
            <a:ext cx="18288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 dirty="0" smtClean="0"/>
              <a:t>- </a:t>
            </a:r>
            <a:r>
              <a:rPr lang="vi-VN" sz="4000" b="1" dirty="0" smtClean="0"/>
              <a:t>CI </a:t>
            </a:r>
            <a:r>
              <a:rPr lang="vi-VN" sz="4000" b="1" dirty="0"/>
              <a:t>(Continuous Integration):</a:t>
            </a:r>
            <a:r>
              <a:rPr lang="vi-VN" sz="4000" dirty="0"/>
              <a:t> Tự động build &amp; test ngay khi push code.</a:t>
            </a:r>
          </a:p>
          <a:p>
            <a:pPr algn="just">
              <a:lnSpc>
                <a:spcPct val="150000"/>
              </a:lnSpc>
            </a:pPr>
            <a:r>
              <a:rPr lang="en-US" sz="4000" b="1" dirty="0" smtClean="0"/>
              <a:t>- </a:t>
            </a:r>
            <a:r>
              <a:rPr lang="vi-VN" sz="4000" b="1" dirty="0" smtClean="0"/>
              <a:t>CD </a:t>
            </a:r>
            <a:r>
              <a:rPr lang="vi-VN" sz="4000" b="1" dirty="0"/>
              <a:t>(Continuous Deployment):</a:t>
            </a:r>
            <a:r>
              <a:rPr lang="vi-VN" sz="4000" dirty="0"/>
              <a:t> Tự động triển khai phiên bản mới lên Production.</a:t>
            </a:r>
          </a:p>
          <a:p>
            <a:pPr algn="just">
              <a:lnSpc>
                <a:spcPct val="150000"/>
              </a:lnSpc>
            </a:pPr>
            <a:r>
              <a:rPr lang="en-US" sz="4000" b="1" dirty="0" smtClean="0"/>
              <a:t>- </a:t>
            </a:r>
            <a:r>
              <a:rPr lang="vi-VN" sz="4000" b="1" dirty="0" smtClean="0"/>
              <a:t>Lợi </a:t>
            </a:r>
            <a:r>
              <a:rPr lang="vi-VN" sz="4000" b="1" dirty="0"/>
              <a:t>ích:</a:t>
            </a:r>
            <a:r>
              <a:rPr lang="vi-VN" sz="4000" dirty="0"/>
              <a:t> Phát hiện lỗi sớm, Deploy nhanh và an toàn</a:t>
            </a:r>
            <a:r>
              <a:rPr lang="vi-VN" sz="4000" dirty="0" smtClean="0"/>
              <a:t>.</a:t>
            </a:r>
            <a:endParaRPr lang="vi-VN" sz="4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636" y="10391"/>
            <a:ext cx="7543800" cy="1143000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5000" b="1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 </a:t>
            </a:r>
            <a:r>
              <a:rPr lang="en-US" sz="5000" b="1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sánh</a:t>
            </a:r>
            <a:r>
              <a:rPr lang="en-US" sz="5000" b="1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5000" b="1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triển</a:t>
            </a:r>
            <a:r>
              <a:rPr lang="en-US" sz="5000" b="1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5000" b="1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khai</a:t>
            </a:r>
            <a:endParaRPr lang="en-US" sz="5000" b="1" dirty="0"/>
          </a:p>
        </p:txBody>
      </p:sp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197196"/>
            <a:ext cx="15160869" cy="911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0391"/>
            <a:ext cx="8305800" cy="1150938"/>
          </a:xfrm>
        </p:spPr>
        <p:txBody>
          <a:bodyPr>
            <a:noAutofit/>
          </a:bodyPr>
          <a:lstStyle/>
          <a:p>
            <a:pPr>
              <a:lnSpc>
                <a:spcPts val="8459"/>
              </a:lnSpc>
            </a:pPr>
            <a:r>
              <a:rPr lang="en-US" sz="50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DOCKER &amp; CONTAINER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867776"/>
            <a:ext cx="17297399" cy="6100762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6515100"/>
            <a:ext cx="182879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Công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cụ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giúp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thực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hiện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Container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hóa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Lợi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ích</a:t>
            </a: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"Build once, run anywhere" (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Đóng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gói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1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lần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,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chạy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mọi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nơi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),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nhẹ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hơn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máy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ảo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 Container: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Đóng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gói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ứng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dụng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cùng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toàn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bộ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thư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viện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phụ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4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thuộc</a:t>
            </a:r>
            <a:r>
              <a:rPr kumimoji="0" lang="en-US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782" y="17318"/>
            <a:ext cx="9525000" cy="1143000"/>
          </a:xfrm>
        </p:spPr>
        <p:txBody>
          <a:bodyPr>
            <a:no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DOCKER </a:t>
            </a:r>
            <a:r>
              <a:rPr lang="en-US" sz="5000" b="1" dirty="0" err="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vs</a:t>
            </a:r>
            <a:r>
              <a:rPr lang="en-US" sz="5000" b="1" dirty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VIRTUAL </a:t>
            </a:r>
            <a:r>
              <a:rPr lang="en-US" sz="5000" b="1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MACHINE</a:t>
            </a:r>
            <a:endParaRPr lang="en-US" sz="5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46546"/>
            <a:ext cx="17145000" cy="908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464"/>
            <a:ext cx="8229600" cy="1143000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GITHUB </a:t>
            </a:r>
            <a:r>
              <a:rPr lang="en-US" sz="5000" b="1" dirty="0" smtClean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ACTIONS</a:t>
            </a:r>
            <a:endParaRPr lang="en-US" sz="5000" dirty="0"/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44253"/>
            <a:ext cx="17145000" cy="5958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-57150" y="6902618"/>
            <a:ext cx="18059400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Khái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niệm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Công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cụ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CI/CD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tích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hợp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sẵn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ngay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trong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GitHub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-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Quy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trình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trong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đồ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án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:</a:t>
            </a:r>
            <a:endParaRPr lang="en-US" sz="3000" dirty="0"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1.Push code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GitHub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Kích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hoạt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Runner (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Máy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ảo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Build Java &amp; Build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Push Image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lên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Docker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Hub.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Gọi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Render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để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Deploy.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43200" y="3848100"/>
            <a:ext cx="146304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 err="1"/>
              <a:t>Ngôn</a:t>
            </a:r>
            <a:r>
              <a:rPr lang="en-US" sz="4000" b="1" dirty="0"/>
              <a:t> </a:t>
            </a:r>
            <a:r>
              <a:rPr lang="en-US" sz="4000" b="1" dirty="0" err="1"/>
              <a:t>ngữ</a:t>
            </a:r>
            <a:r>
              <a:rPr lang="en-US" sz="4000" b="1" dirty="0"/>
              <a:t>:</a:t>
            </a:r>
            <a:r>
              <a:rPr lang="en-US" sz="4000" dirty="0"/>
              <a:t> Java 17 (LTS).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Framework:</a:t>
            </a:r>
            <a:r>
              <a:rPr lang="en-US" sz="4000" dirty="0"/>
              <a:t> Spring Boot 3.x.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Frontend:</a:t>
            </a:r>
            <a:r>
              <a:rPr lang="en-US" sz="4000" dirty="0"/>
              <a:t> </a:t>
            </a:r>
            <a:r>
              <a:rPr lang="en-US" sz="4000" dirty="0" err="1"/>
              <a:t>Thymeleaf</a:t>
            </a:r>
            <a:r>
              <a:rPr lang="en-US" sz="4000" dirty="0"/>
              <a:t> + Tailwind CSS.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Container:</a:t>
            </a:r>
            <a:r>
              <a:rPr lang="en-US" sz="4000" dirty="0"/>
              <a:t> </a:t>
            </a:r>
            <a:r>
              <a:rPr lang="en-US" sz="4000" dirty="0" err="1"/>
              <a:t>Docker</a:t>
            </a:r>
            <a:r>
              <a:rPr lang="en-US" sz="4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CI/CD:</a:t>
            </a:r>
            <a:r>
              <a:rPr lang="en-US" sz="4000" dirty="0"/>
              <a:t> </a:t>
            </a:r>
            <a:r>
              <a:rPr lang="en-US" sz="4000" dirty="0" err="1"/>
              <a:t>GitHub</a:t>
            </a:r>
            <a:r>
              <a:rPr lang="en-US" sz="4000" dirty="0"/>
              <a:t> Actions.</a:t>
            </a:r>
          </a:p>
          <a:p>
            <a:pPr>
              <a:lnSpc>
                <a:spcPct val="150000"/>
              </a:lnSpc>
            </a:pPr>
            <a:r>
              <a:rPr lang="en-US" sz="4000" b="1" dirty="0"/>
              <a:t>Cloud:</a:t>
            </a:r>
            <a:r>
              <a:rPr lang="en-US" sz="4000" dirty="0"/>
              <a:t> Render</a:t>
            </a:r>
            <a:r>
              <a:rPr lang="en-US" sz="4000" dirty="0" smtClean="0"/>
              <a:t>.</a:t>
            </a:r>
            <a:endParaRPr lang="en-US" sz="4000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447800" y="1701800"/>
            <a:ext cx="9144000" cy="2155825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NGHỆ SỬ </a:t>
            </a:r>
            <a:r>
              <a:rPr lang="en-US" sz="5000" b="1" dirty="0" smtClean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DỤNG</a:t>
            </a:r>
            <a:endParaRPr lang="en-US" sz="5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95400" y="571500"/>
            <a:ext cx="10896600" cy="1752600"/>
          </a:xfrm>
        </p:spPr>
        <p:txBody>
          <a:bodyPr>
            <a:normAutofit/>
          </a:bodyPr>
          <a:lstStyle/>
          <a:p>
            <a:r>
              <a:rPr lang="en-US" sz="5000" b="1" dirty="0"/>
              <a:t>PHẦN 3: HIỆN THỰC HÓA VÀ KẾT QUẢ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KIẾN TRÚC HỆ </a:t>
            </a:r>
            <a:r>
              <a:rPr lang="en-US" sz="5000" b="1" dirty="0" smtClean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THỐNG</a:t>
            </a:r>
            <a:endParaRPr lang="en-US" sz="5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62100"/>
            <a:ext cx="17939045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228601" y="7200900"/>
            <a:ext cx="1793904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4000" b="1" dirty="0" smtClean="0"/>
              <a:t>Luồng </a:t>
            </a:r>
            <a:r>
              <a:rPr lang="vi-VN" sz="4000" b="1" dirty="0"/>
              <a:t>đi:</a:t>
            </a:r>
            <a:r>
              <a:rPr lang="vi-VN" sz="4000" dirty="0"/>
              <a:t> Local (Eclipse) → GitHub Repository → GitHub Actions → Docker Hub → Render Cloud → Người dùng.</a:t>
            </a:r>
            <a:endParaRPr lang="en-US" sz="40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05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5000" b="1" dirty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GIAO DIỆN </a:t>
            </a:r>
            <a:r>
              <a:rPr lang="en-US" sz="5000" b="1" dirty="0" smtClean="0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TRANG CHỦ</a:t>
            </a:r>
            <a:endParaRPr lang="en-US" sz="5000" dirty="0"/>
          </a:p>
        </p:txBody>
      </p:sp>
      <p:pic>
        <p:nvPicPr>
          <p:cNvPr id="1026" name="Picture 2" descr="gaio diệ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81100"/>
            <a:ext cx="16641961" cy="8399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9525"/>
            <a:ext cx="8229600" cy="594948"/>
          </a:xfrm>
        </p:spPr>
        <p:txBody>
          <a:bodyPr>
            <a:normAutofit fontScale="90000"/>
          </a:bodyPr>
          <a:lstStyle/>
          <a:p>
            <a:r>
              <a:rPr lang="en-US" sz="5000" b="1" dirty="0">
                <a:latin typeface="Noto Sans Bold"/>
                <a:ea typeface="Noto Sans Bold"/>
                <a:cs typeface="Noto Sans Bold"/>
                <a:sym typeface="Noto Sans Bold"/>
              </a:rPr>
              <a:t>GIAO DIỆN CHI </a:t>
            </a:r>
            <a:r>
              <a:rPr lang="en-US" sz="5000" b="1" dirty="0" smtClean="0">
                <a:latin typeface="Noto Sans Bold"/>
                <a:ea typeface="Noto Sans Bold"/>
                <a:cs typeface="Noto Sans Bold"/>
                <a:sym typeface="Noto Sans Bold"/>
              </a:rPr>
              <a:t>TIẾT</a:t>
            </a:r>
            <a:endParaRPr lang="en-US" sz="5000" dirty="0"/>
          </a:p>
        </p:txBody>
      </p:sp>
      <p:pic>
        <p:nvPicPr>
          <p:cNvPr id="2050" name="Picture 2" descr="c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025" y="604473"/>
            <a:ext cx="7381875" cy="369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 descr="c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550" y="4305986"/>
            <a:ext cx="7410450" cy="350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ct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025" y="7892438"/>
            <a:ext cx="7419975" cy="239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76199" y="604473"/>
            <a:ext cx="10801351" cy="9441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2400" b="1" dirty="0" smtClean="0"/>
              <a:t>1. Bảng Tỉ số và Tổng quan (Scoreboard):</a:t>
            </a:r>
            <a:endParaRPr lang="vi-VN" sz="2400" dirty="0" smtClean="0"/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Hiển thị:</a:t>
            </a:r>
            <a:r>
              <a:rPr lang="vi-VN" sz="2400" dirty="0" smtClean="0"/>
              <a:t> Logo, tên đội, tỉ số hiện tại và phút thi đấu (Live/FT).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Phong độ:</a:t>
            </a:r>
            <a:r>
              <a:rPr lang="vi-VN" sz="2400" dirty="0" smtClean="0"/>
              <a:t> Biểu đồ 5 trận gần nhất (W-D-L) giúp đánh giá nhanh tương quan lực lượng.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Điều hướng:</a:t>
            </a:r>
            <a:r>
              <a:rPr lang="vi-VN" sz="2400" dirty="0" smtClean="0"/>
              <a:t> Nút "Quay lại" giúp trải nghiệm người dùng liền mạch.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2. Thống kê chuyên môn (Match Statistics):</a:t>
            </a:r>
            <a:endParaRPr lang="vi-VN" sz="2400" dirty="0" smtClean="0"/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Trực quan hóa:</a:t>
            </a:r>
            <a:r>
              <a:rPr lang="vi-VN" sz="2400" dirty="0" smtClean="0"/>
              <a:t> Sử dụng thanh trượt (Progress Bar) để so sánh chỉ số giữa 2 đội.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Chỉ số chi tiết:</a:t>
            </a:r>
            <a:endParaRPr lang="vi-VN" sz="2400" dirty="0" smtClean="0"/>
          </a:p>
          <a:p>
            <a:pPr lvl="1" algn="just">
              <a:lnSpc>
                <a:spcPct val="150000"/>
              </a:lnSpc>
            </a:pPr>
            <a:r>
              <a:rPr lang="vi-VN" sz="2400" dirty="0" smtClean="0"/>
              <a:t>Kiểm soát bóng (Possession).</a:t>
            </a:r>
          </a:p>
          <a:p>
            <a:pPr lvl="1" algn="just">
              <a:lnSpc>
                <a:spcPct val="150000"/>
              </a:lnSpc>
            </a:pPr>
            <a:r>
              <a:rPr lang="vi-VN" sz="2400" dirty="0" smtClean="0"/>
              <a:t>Tấn công: Tổng cú sút, Sút trúng đích.</a:t>
            </a:r>
          </a:p>
          <a:p>
            <a:pPr lvl="1" algn="just">
              <a:lnSpc>
                <a:spcPct val="150000"/>
              </a:lnSpc>
            </a:pPr>
            <a:r>
              <a:rPr lang="vi-VN" sz="2400" dirty="0" smtClean="0"/>
              <a:t>Phòng ngự &amp; Kỷ luật: Phạm lỗi, Thẻ vàng/đỏ, Phạt góc.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3. Thông tin Đội hình và Lịch thi đấu:</a:t>
            </a:r>
            <a:endParaRPr lang="vi-VN" sz="2400" dirty="0" smtClean="0"/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Ban huấn luyện:</a:t>
            </a:r>
            <a:r>
              <a:rPr lang="vi-VN" sz="2400" dirty="0" smtClean="0"/>
              <a:t> Hiển thị tên HLV trưởng và sơ đồ chiến thuật (ví dụ: 3-4-3 vs 4-2-3-1).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Danh sách cầu thủ:</a:t>
            </a:r>
            <a:r>
              <a:rPr lang="vi-VN" sz="2400" dirty="0" smtClean="0"/>
              <a:t> Liệt kê đội hình xuất phát (Starting XI) và cầu thủ dự bị.</a:t>
            </a:r>
          </a:p>
          <a:p>
            <a:pPr algn="just">
              <a:lnSpc>
                <a:spcPct val="150000"/>
              </a:lnSpc>
            </a:pPr>
            <a:r>
              <a:rPr lang="vi-VN" sz="2400" b="1" dirty="0" smtClean="0"/>
              <a:t>Lịch thi đấu:</a:t>
            </a:r>
            <a:r>
              <a:rPr lang="vi-VN" sz="2400" dirty="0" smtClean="0"/>
              <a:t> Tự động gợi ý 3 trận đấu tiếp theo của cả hai đội.</a:t>
            </a:r>
            <a:endParaRPr lang="vi-VN" sz="2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000" b="1" dirty="0" err="1" smtClean="0"/>
              <a:t>Quy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trình</a:t>
            </a:r>
            <a:r>
              <a:rPr lang="en-US" sz="5000" b="1" dirty="0" smtClean="0"/>
              <a:t> CI/CD </a:t>
            </a:r>
            <a:r>
              <a:rPr lang="en-US" sz="5000" b="1" dirty="0" err="1"/>
              <a:t>t</a:t>
            </a:r>
            <a:r>
              <a:rPr lang="en-US" sz="5000" b="1" dirty="0" err="1" smtClean="0"/>
              <a:t>hực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tế</a:t>
            </a:r>
            <a:endParaRPr lang="en-US" sz="50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33500"/>
            <a:ext cx="18288000" cy="723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16784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42900"/>
            <a:ext cx="9372600" cy="1143000"/>
          </a:xfrm>
        </p:spPr>
        <p:txBody>
          <a:bodyPr>
            <a:noAutofit/>
          </a:bodyPr>
          <a:lstStyle/>
          <a:p>
            <a:pPr algn="l">
              <a:lnSpc>
                <a:spcPts val="7000"/>
              </a:lnSpc>
            </a:pPr>
            <a:r>
              <a:rPr lang="en-US" sz="5400" dirty="0" err="1"/>
              <a:t>GitHub</a:t>
            </a:r>
            <a:r>
              <a:rPr lang="en-US" sz="5400" dirty="0"/>
              <a:t> </a:t>
            </a:r>
            <a:r>
              <a:rPr lang="en-US" sz="5400" dirty="0" smtClean="0"/>
              <a:t>Actions</a:t>
            </a:r>
            <a:endParaRPr lang="en-US" sz="5000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2019300"/>
            <a:ext cx="16182975" cy="826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5000" dirty="0" err="1" smtClean="0"/>
              <a:t>Docker</a:t>
            </a:r>
            <a:r>
              <a:rPr lang="en-US" sz="5000" dirty="0" smtClean="0"/>
              <a:t> Hub</a:t>
            </a:r>
            <a:endParaRPr lang="en-US" sz="5000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57299"/>
            <a:ext cx="16002000" cy="8933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33333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000" b="1" dirty="0" err="1" smtClean="0"/>
              <a:t>Cấu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hình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môi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trường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ảo</a:t>
            </a:r>
            <a:endParaRPr lang="en-US" sz="5000" b="1" dirty="0"/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80690"/>
            <a:ext cx="17145000" cy="9006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9551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5000" b="1" dirty="0" err="1" smtClean="0"/>
              <a:t>Chạy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môi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trường</a:t>
            </a:r>
            <a:r>
              <a:rPr lang="en-US" sz="5000" b="1" dirty="0" smtClean="0"/>
              <a:t> </a:t>
            </a:r>
            <a:r>
              <a:rPr lang="en-US" sz="5000" b="1" dirty="0" err="1" smtClean="0"/>
              <a:t>ảo</a:t>
            </a:r>
            <a:endParaRPr lang="en-US" sz="5000" b="1" dirty="0"/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33500"/>
            <a:ext cx="16764000" cy="866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39919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0" y="1"/>
            <a:ext cx="7772400" cy="800099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 smtClean="0">
                <a:latin typeface="Noto Sans"/>
                <a:ea typeface="Noto Sans"/>
                <a:cs typeface="Noto Sans"/>
                <a:sym typeface="Noto Sans"/>
              </a:rPr>
              <a:t>Kết</a:t>
            </a:r>
            <a:r>
              <a:rPr lang="en-US" sz="4000" b="1" dirty="0" smtClean="0"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b="1" dirty="0" err="1" smtClean="0">
                <a:latin typeface="Noto Sans"/>
                <a:ea typeface="Noto Sans"/>
                <a:cs typeface="Noto Sans"/>
                <a:sym typeface="Noto Sans"/>
              </a:rPr>
              <a:t>quả</a:t>
            </a:r>
            <a:r>
              <a:rPr lang="en-US" sz="4000" b="1" dirty="0" smtClean="0"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b="1" dirty="0" err="1" smtClean="0">
                <a:latin typeface="Noto Sans"/>
                <a:ea typeface="Noto Sans"/>
                <a:cs typeface="Noto Sans"/>
                <a:sym typeface="Noto Sans"/>
              </a:rPr>
              <a:t>đạt</a:t>
            </a:r>
            <a:r>
              <a:rPr lang="en-US" sz="4000" b="1" dirty="0" smtClean="0"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b="1" dirty="0" err="1" smtClean="0">
                <a:latin typeface="Noto Sans"/>
                <a:ea typeface="Noto Sans"/>
                <a:cs typeface="Noto Sans"/>
                <a:sym typeface="Noto Sans"/>
              </a:rPr>
              <a:t>được</a:t>
            </a:r>
            <a:endParaRPr lang="en-US" sz="4000" b="1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533400" y="876300"/>
            <a:ext cx="6400800" cy="876300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 smtClean="0">
                <a:solidFill>
                  <a:schemeClr val="tx1"/>
                </a:solidFill>
              </a:rPr>
              <a:t>Trang</a:t>
            </a:r>
            <a:r>
              <a:rPr lang="en-US" sz="4000" dirty="0" smtClean="0">
                <a:solidFill>
                  <a:schemeClr val="tx1"/>
                </a:solidFill>
              </a:rPr>
              <a:t> </a:t>
            </a:r>
            <a:r>
              <a:rPr lang="en-US" sz="4000" dirty="0" err="1" smtClean="0">
                <a:solidFill>
                  <a:schemeClr val="tx1"/>
                </a:solidFill>
              </a:rPr>
              <a:t>chủ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7170" name="Picture 2" descr="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815710"/>
            <a:ext cx="14630400" cy="846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800100"/>
          </a:xfrm>
        </p:spPr>
        <p:txBody>
          <a:bodyPr/>
          <a:lstStyle/>
          <a:p>
            <a:pPr algn="l"/>
            <a:r>
              <a:rPr lang="en-US" sz="4000" dirty="0" err="1" smtClean="0"/>
              <a:t>Trang</a:t>
            </a:r>
            <a:r>
              <a:rPr lang="en-US" dirty="0" smtClean="0"/>
              <a:t> chi </a:t>
            </a:r>
            <a:r>
              <a:rPr lang="en-US" dirty="0" err="1" smtClean="0"/>
              <a:t>tiết</a:t>
            </a:r>
            <a:endParaRPr lang="en-US" dirty="0"/>
          </a:p>
        </p:txBody>
      </p:sp>
      <p:pic>
        <p:nvPicPr>
          <p:cNvPr id="8194" name="Picture 2" descr="C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"/>
            <a:ext cx="10223466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CT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174" y="4457701"/>
            <a:ext cx="10223466" cy="354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 descr="CT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9174" y="7885625"/>
            <a:ext cx="10223466" cy="2053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36" y="5715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 smtClean="0"/>
              <a:t>Kết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quả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đạt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được</a:t>
            </a:r>
            <a:endParaRPr lang="en-US" sz="4000" b="1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20784" y="2019300"/>
            <a:ext cx="18288001" cy="7540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056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1. </a:t>
            </a:r>
            <a:r>
              <a:rPr kumimoji="0" lang="en-US" sz="3000" b="1" i="0" u="none" strike="noStrike" cap="none" normalizeH="0" baseline="0" dirty="0" err="1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Tự</a:t>
            </a: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động</a:t>
            </a: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hóa</a:t>
            </a: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tích</a:t>
            </a: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hợp</a:t>
            </a:r>
            <a:r>
              <a:rPr kumimoji="0" lang="en-US" sz="3000" b="1" i="0" u="none" strike="noStrike" cap="none" normalizeH="0" baseline="0" dirty="0" smtClean="0" bmk="_Toc217858729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(Continuous Integration - CI)</a:t>
            </a:r>
            <a:endParaRPr kumimoji="0" lang="en-US" sz="3000" b="1" i="0" u="none" strike="noStrike" cap="none" normalizeH="0" baseline="0" dirty="0" smtClean="0" bmk="">
              <a:ln>
                <a:noFill/>
              </a:ln>
              <a:solidFill>
                <a:srgbClr val="4F81BD"/>
              </a:solidFill>
              <a:effectLst/>
              <a:latin typeface="Cambria" pitchFamily="18" charset="0"/>
              <a:ea typeface="SimSun" pitchFamily="2" charset="-122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Hệ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thống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GitHub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Actions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đã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được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cấu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hình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thành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công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để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thực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hiện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các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tác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vụ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kiểm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tra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mã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mỗi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có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thay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đổi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Git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Push).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Kết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quả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tải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mã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nguồn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cài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đặt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môi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trường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Java 17.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chạy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lệnh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Maven Build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để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biên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dịch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kiểm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tra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lỗi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cú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pháp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Thời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gian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thực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hiện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trung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bình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 1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phút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30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giây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en-US" sz="3000" b="0" i="0" u="none" strike="noStrike" cap="none" normalizeH="0" baseline="0" dirty="0" smtClean="0" bmk="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Lợi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ích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Phát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hiện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lỗi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ngay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tức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nếu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code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bị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sai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ngăn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chặn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việc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đưa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mã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lỗi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vào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quy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đóng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gói</a:t>
            </a:r>
            <a:r>
              <a:rPr kumimoji="0" lang="en-US" sz="3000" b="0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en-US" sz="3000" b="1" i="0" u="none" strike="noStrike" cap="none" normalizeH="0" baseline="0" dirty="0" smtClean="0" bmk="">
              <a:ln>
                <a:noFill/>
              </a:ln>
              <a:solidFill>
                <a:srgbClr val="4F81BD"/>
              </a:solidFill>
              <a:effectLst/>
              <a:latin typeface="Cambria" pitchFamily="18" charset="0"/>
              <a:ea typeface="SimSun" pitchFamily="2" charset="-122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2. </a:t>
            </a:r>
            <a:r>
              <a:rPr kumimoji="0" lang="en-US" sz="3000" b="1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Tự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động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hóa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triển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</a:t>
            </a:r>
            <a:r>
              <a:rPr kumimoji="0" lang="en-US" sz="3000" b="1" i="0" u="none" strike="noStrike" cap="none" normalizeH="0" baseline="0" dirty="0" err="1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khai</a:t>
            </a:r>
            <a:r>
              <a:rPr kumimoji="0" lang="en-US" sz="3000" b="1" i="0" u="none" strike="noStrike" cap="none" normalizeH="0" baseline="0" dirty="0" smtClean="0" bmk="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SimSun" pitchFamily="2" charset="-122"/>
                <a:cs typeface="Times New Roman" pitchFamily="18" charset="0"/>
              </a:rPr>
              <a:t> (Continuous Deployment - CD)</a:t>
            </a:r>
            <a:endParaRPr kumimoji="0" lang="en-US" sz="3000" b="1" i="0" u="none" strike="noStrike" cap="none" normalizeH="0" baseline="0" dirty="0" smtClean="0">
              <a:ln>
                <a:noFill/>
              </a:ln>
              <a:solidFill>
                <a:srgbClr val="4F81BD"/>
              </a:solidFill>
              <a:effectLst/>
              <a:latin typeface="Cambria" pitchFamily="18" charset="0"/>
              <a:ea typeface="SimSun" pitchFamily="2" charset="-122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Quy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đóng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gói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và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triển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khai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được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thực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hiện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hoàn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toàn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,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khép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kín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từ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GitHub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đến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Render.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-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Kết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quả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Docker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Image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được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xây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dựng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từ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Dockerfile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chuẩn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dựa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eclipse-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itchFamily="34" charset="-128"/>
                <a:ea typeface="Times New Roman" pitchFamily="18" charset="0"/>
                <a:cs typeface="Courier New" pitchFamily="49" charset="0"/>
              </a:rPr>
              <a:t>temurin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).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Image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được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đẩy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Docker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Hub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thành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công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Webhook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tự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động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kích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hoạt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Render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để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tải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phiên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bản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mới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nhất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về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chạy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Symbol" pitchFamily="18" charset="2"/>
              <a:buChar char=""/>
              <a:tabLst>
                <a:tab pos="914400" algn="l"/>
              </a:tabLst>
            </a:pP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Tổng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thời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gian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triển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khai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Từ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lúc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Lập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trình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viên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cam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kết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mã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(Commit)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đến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lúc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Website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cập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nhật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phiên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bản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mới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trên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Internet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là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khoảng</a:t>
            </a: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3 - 4 </a:t>
            </a:r>
            <a:r>
              <a:rPr kumimoji="0" lang="en-US" sz="3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phút</a:t>
            </a:r>
            <a:r>
              <a:rPr kumimoji="0" lang="en-US" sz="3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en-US" sz="3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5731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45" y="7239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en-US" sz="4000" b="1" dirty="0" err="1"/>
              <a:t>Đánh</a:t>
            </a:r>
            <a:r>
              <a:rPr lang="en-US" sz="4000" b="1" dirty="0"/>
              <a:t> </a:t>
            </a:r>
            <a:r>
              <a:rPr lang="en-US" sz="4000" b="1" dirty="0" err="1"/>
              <a:t>giá</a:t>
            </a:r>
            <a:r>
              <a:rPr lang="en-US" sz="4000" b="1" dirty="0"/>
              <a:t> </a:t>
            </a:r>
            <a:r>
              <a:rPr lang="en-US" sz="4000" b="1" dirty="0" err="1"/>
              <a:t>hiệu</a:t>
            </a:r>
            <a:r>
              <a:rPr lang="en-US" sz="4000" b="1" dirty="0"/>
              <a:t> </a:t>
            </a:r>
            <a:r>
              <a:rPr lang="en-US" sz="4000" b="1" dirty="0" err="1"/>
              <a:t>năng</a:t>
            </a:r>
            <a:r>
              <a:rPr lang="en-US" sz="4000" b="1" dirty="0"/>
              <a:t> </a:t>
            </a:r>
            <a:r>
              <a:rPr lang="en-US" sz="4000" b="1" dirty="0" err="1"/>
              <a:t>và</a:t>
            </a:r>
            <a:r>
              <a:rPr lang="en-US" sz="4000" b="1" dirty="0"/>
              <a:t> </a:t>
            </a:r>
            <a:r>
              <a:rPr lang="en-US" sz="4000" b="1" dirty="0" err="1"/>
              <a:t>Trải</a:t>
            </a:r>
            <a:r>
              <a:rPr lang="en-US" sz="4000" b="1" dirty="0"/>
              <a:t> </a:t>
            </a:r>
            <a:r>
              <a:rPr lang="en-US" sz="4000" b="1" dirty="0" err="1" smtClean="0"/>
              <a:t>nghiệm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0" y="2324100"/>
            <a:ext cx="18288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/>
              <a:t>1</a:t>
            </a:r>
            <a:r>
              <a:rPr lang="en-US" sz="3000" b="1" dirty="0"/>
              <a:t>. </a:t>
            </a:r>
            <a:r>
              <a:rPr lang="en-US" sz="3000" b="1" dirty="0" err="1"/>
              <a:t>Đánh</a:t>
            </a:r>
            <a:r>
              <a:rPr lang="en-US" sz="3000" b="1" dirty="0"/>
              <a:t> </a:t>
            </a:r>
            <a:r>
              <a:rPr lang="en-US" sz="3000" b="1" dirty="0" err="1"/>
              <a:t>giá</a:t>
            </a:r>
            <a:r>
              <a:rPr lang="en-US" sz="3000" b="1" dirty="0"/>
              <a:t> </a:t>
            </a:r>
            <a:r>
              <a:rPr lang="en-US" sz="3000" b="1" dirty="0" err="1"/>
              <a:t>hiệu</a:t>
            </a:r>
            <a:r>
              <a:rPr lang="en-US" sz="3000" b="1" dirty="0"/>
              <a:t> </a:t>
            </a:r>
            <a:r>
              <a:rPr lang="en-US" sz="3000" b="1" dirty="0" err="1"/>
              <a:t>năng</a:t>
            </a:r>
            <a:r>
              <a:rPr lang="en-US" sz="3000" b="1" dirty="0"/>
              <a:t> </a:t>
            </a:r>
            <a:r>
              <a:rPr lang="en-US" sz="3000" b="1" dirty="0" err="1"/>
              <a:t>hệ</a:t>
            </a:r>
            <a:r>
              <a:rPr lang="en-US" sz="3000" b="1" dirty="0"/>
              <a:t> </a:t>
            </a:r>
            <a:r>
              <a:rPr lang="en-US" sz="3000" b="1" dirty="0" err="1"/>
              <a:t>thống</a:t>
            </a:r>
            <a:endParaRPr lang="en-US" sz="3000" b="1" dirty="0"/>
          </a:p>
          <a:p>
            <a:pPr lvl="1"/>
            <a:r>
              <a:rPr lang="en-US" sz="3000" dirty="0" smtClean="0"/>
              <a:t>- </a:t>
            </a:r>
            <a:r>
              <a:rPr lang="en-US" sz="3000" dirty="0" err="1" smtClean="0"/>
              <a:t>Thời</a:t>
            </a:r>
            <a:r>
              <a:rPr lang="en-US" sz="3000" dirty="0" smtClean="0"/>
              <a:t> </a:t>
            </a:r>
            <a:r>
              <a:rPr lang="en-US" sz="3000" dirty="0" err="1"/>
              <a:t>gian</a:t>
            </a:r>
            <a:r>
              <a:rPr lang="en-US" sz="3000" dirty="0"/>
              <a:t> </a:t>
            </a:r>
            <a:r>
              <a:rPr lang="en-US" sz="3000" dirty="0" err="1"/>
              <a:t>phản</a:t>
            </a:r>
            <a:r>
              <a:rPr lang="en-US" sz="3000" dirty="0"/>
              <a:t> </a:t>
            </a:r>
            <a:r>
              <a:rPr lang="en-US" sz="3000" dirty="0" err="1"/>
              <a:t>hồi</a:t>
            </a:r>
            <a:r>
              <a:rPr lang="en-US" sz="3000" dirty="0"/>
              <a:t> (Response Time): </a:t>
            </a:r>
            <a:r>
              <a:rPr lang="en-US" sz="3000" dirty="0" err="1"/>
              <a:t>Ứng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phản</a:t>
            </a:r>
            <a:r>
              <a:rPr lang="en-US" sz="3000" dirty="0"/>
              <a:t> </a:t>
            </a:r>
            <a:r>
              <a:rPr lang="en-US" sz="3000" dirty="0" err="1"/>
              <a:t>hồi</a:t>
            </a:r>
            <a:r>
              <a:rPr lang="en-US" sz="3000" dirty="0"/>
              <a:t> </a:t>
            </a:r>
            <a:r>
              <a:rPr lang="en-US" sz="3000" dirty="0" err="1"/>
              <a:t>trung</a:t>
            </a:r>
            <a:r>
              <a:rPr lang="en-US" sz="3000" dirty="0"/>
              <a:t> </a:t>
            </a:r>
            <a:r>
              <a:rPr lang="en-US" sz="3000" dirty="0" err="1"/>
              <a:t>bình</a:t>
            </a:r>
            <a:r>
              <a:rPr lang="en-US" sz="3000" dirty="0"/>
              <a:t> </a:t>
            </a:r>
            <a:r>
              <a:rPr lang="en-US" sz="3000" dirty="0" err="1"/>
              <a:t>dưới</a:t>
            </a:r>
            <a:r>
              <a:rPr lang="en-US" sz="3000" dirty="0"/>
              <a:t> 500ms </a:t>
            </a:r>
            <a:r>
              <a:rPr lang="en-US" sz="3000" dirty="0" err="1"/>
              <a:t>cho</a:t>
            </a:r>
            <a:r>
              <a:rPr lang="en-US" sz="3000" dirty="0"/>
              <a:t> </a:t>
            </a:r>
            <a:r>
              <a:rPr lang="en-US" sz="3000" dirty="0" err="1"/>
              <a:t>các</a:t>
            </a:r>
            <a:r>
              <a:rPr lang="en-US" sz="3000" dirty="0"/>
              <a:t> </a:t>
            </a:r>
            <a:r>
              <a:rPr lang="en-US" sz="3000" dirty="0" err="1"/>
              <a:t>yêu</a:t>
            </a:r>
            <a:r>
              <a:rPr lang="en-US" sz="3000" dirty="0"/>
              <a:t> </a:t>
            </a:r>
            <a:r>
              <a:rPr lang="en-US" sz="3000" dirty="0" err="1"/>
              <a:t>cầu</a:t>
            </a:r>
            <a:r>
              <a:rPr lang="en-US" sz="3000" dirty="0"/>
              <a:t> </a:t>
            </a:r>
            <a:r>
              <a:rPr lang="en-US" sz="3000" dirty="0" err="1"/>
              <a:t>truy</a:t>
            </a:r>
            <a:r>
              <a:rPr lang="en-US" sz="3000" dirty="0"/>
              <a:t> </a:t>
            </a:r>
            <a:r>
              <a:rPr lang="en-US" sz="3000" dirty="0" err="1"/>
              <a:t>cập</a:t>
            </a:r>
            <a:r>
              <a:rPr lang="en-US" sz="3000" dirty="0"/>
              <a:t> </a:t>
            </a:r>
            <a:r>
              <a:rPr lang="en-US" sz="3000" dirty="0" err="1"/>
              <a:t>trang</a:t>
            </a:r>
            <a:r>
              <a:rPr lang="en-US" sz="3000" dirty="0"/>
              <a:t>, </a:t>
            </a:r>
            <a:r>
              <a:rPr lang="en-US" sz="3000" dirty="0" err="1"/>
              <a:t>đảm</a:t>
            </a:r>
            <a:r>
              <a:rPr lang="en-US" sz="3000" dirty="0"/>
              <a:t> </a:t>
            </a:r>
            <a:r>
              <a:rPr lang="en-US" sz="3000" dirty="0" err="1"/>
              <a:t>bảo</a:t>
            </a:r>
            <a:r>
              <a:rPr lang="en-US" sz="3000" dirty="0"/>
              <a:t> </a:t>
            </a:r>
            <a:r>
              <a:rPr lang="en-US" sz="3000" dirty="0" err="1"/>
              <a:t>trải</a:t>
            </a:r>
            <a:r>
              <a:rPr lang="en-US" sz="3000" dirty="0"/>
              <a:t> </a:t>
            </a:r>
            <a:r>
              <a:rPr lang="en-US" sz="3000" dirty="0" err="1"/>
              <a:t>nghiệm</a:t>
            </a:r>
            <a:r>
              <a:rPr lang="en-US" sz="3000" dirty="0"/>
              <a:t> </a:t>
            </a:r>
            <a:r>
              <a:rPr lang="en-US" sz="3000" dirty="0" err="1"/>
              <a:t>mượt</a:t>
            </a:r>
            <a:r>
              <a:rPr lang="en-US" sz="3000" dirty="0"/>
              <a:t> </a:t>
            </a:r>
            <a:r>
              <a:rPr lang="en-US" sz="3000" dirty="0" err="1"/>
              <a:t>mà</a:t>
            </a:r>
            <a:r>
              <a:rPr lang="en-US" sz="3000" dirty="0"/>
              <a:t>.</a:t>
            </a:r>
          </a:p>
          <a:p>
            <a:pPr lvl="1"/>
            <a:r>
              <a:rPr lang="en-US" sz="3000" dirty="0" smtClean="0"/>
              <a:t>- </a:t>
            </a:r>
            <a:r>
              <a:rPr lang="en-US" sz="3000" dirty="0" err="1" smtClean="0"/>
              <a:t>Tài</a:t>
            </a:r>
            <a:r>
              <a:rPr lang="en-US" sz="3000" dirty="0" smtClean="0"/>
              <a:t> </a:t>
            </a:r>
            <a:r>
              <a:rPr lang="en-US" sz="3000" dirty="0" err="1"/>
              <a:t>nguyên</a:t>
            </a:r>
            <a:r>
              <a:rPr lang="en-US" sz="3000" dirty="0"/>
              <a:t> </a:t>
            </a:r>
            <a:r>
              <a:rPr lang="en-US" sz="3000" dirty="0" err="1"/>
              <a:t>sử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b="1" dirty="0"/>
              <a:t>:</a:t>
            </a:r>
            <a:r>
              <a:rPr lang="en-US" sz="3000" dirty="0"/>
              <a:t> Container </a:t>
            </a:r>
            <a:r>
              <a:rPr lang="en-US" sz="3000" dirty="0" err="1"/>
              <a:t>chạy</a:t>
            </a:r>
            <a:r>
              <a:rPr lang="en-US" sz="3000" dirty="0"/>
              <a:t> </a:t>
            </a:r>
            <a:r>
              <a:rPr lang="en-US" sz="3000" dirty="0" err="1"/>
              <a:t>ứng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tiêu</a:t>
            </a:r>
            <a:r>
              <a:rPr lang="en-US" sz="3000" dirty="0"/>
              <a:t> </a:t>
            </a:r>
            <a:r>
              <a:rPr lang="en-US" sz="3000" dirty="0" err="1"/>
              <a:t>tốn</a:t>
            </a:r>
            <a:r>
              <a:rPr lang="en-US" sz="3000" dirty="0"/>
              <a:t> </a:t>
            </a:r>
            <a:r>
              <a:rPr lang="en-US" sz="3000" dirty="0" err="1"/>
              <a:t>khoảng</a:t>
            </a:r>
            <a:r>
              <a:rPr lang="en-US" sz="3000" dirty="0"/>
              <a:t> 200-300MB RAM, </a:t>
            </a:r>
            <a:r>
              <a:rPr lang="en-US" sz="3000" dirty="0" err="1"/>
              <a:t>hoạt</a:t>
            </a:r>
            <a:r>
              <a:rPr lang="en-US" sz="3000" dirty="0"/>
              <a:t> </a:t>
            </a:r>
            <a:r>
              <a:rPr lang="en-US" sz="3000" dirty="0" err="1"/>
              <a:t>động</a:t>
            </a:r>
            <a:r>
              <a:rPr lang="en-US" sz="3000" dirty="0"/>
              <a:t> </a:t>
            </a:r>
            <a:r>
              <a:rPr lang="en-US" sz="3000" dirty="0" err="1"/>
              <a:t>ổn</a:t>
            </a:r>
            <a:r>
              <a:rPr lang="en-US" sz="3000" dirty="0"/>
              <a:t> </a:t>
            </a:r>
            <a:r>
              <a:rPr lang="en-US" sz="3000" dirty="0" err="1"/>
              <a:t>định</a:t>
            </a:r>
            <a:r>
              <a:rPr lang="en-US" sz="3000" dirty="0"/>
              <a:t> </a:t>
            </a:r>
            <a:r>
              <a:rPr lang="en-US" sz="3000" dirty="0" err="1"/>
              <a:t>trên</a:t>
            </a:r>
            <a:r>
              <a:rPr lang="en-US" sz="3000" dirty="0"/>
              <a:t> </a:t>
            </a:r>
            <a:r>
              <a:rPr lang="en-US" sz="3000" dirty="0" err="1"/>
              <a:t>gói</a:t>
            </a:r>
            <a:r>
              <a:rPr lang="en-US" sz="3000" dirty="0"/>
              <a:t> Free Tier </a:t>
            </a:r>
            <a:r>
              <a:rPr lang="en-US" sz="3000" dirty="0" err="1"/>
              <a:t>của</a:t>
            </a:r>
            <a:r>
              <a:rPr lang="en-US" sz="3000" dirty="0"/>
              <a:t> Render (</a:t>
            </a:r>
            <a:r>
              <a:rPr lang="en-US" sz="3000" dirty="0" err="1"/>
              <a:t>giới</a:t>
            </a:r>
            <a:r>
              <a:rPr lang="en-US" sz="3000" dirty="0"/>
              <a:t> </a:t>
            </a:r>
            <a:r>
              <a:rPr lang="en-US" sz="3000" dirty="0" err="1"/>
              <a:t>hạn</a:t>
            </a:r>
            <a:r>
              <a:rPr lang="en-US" sz="3000" dirty="0"/>
              <a:t> 512MB).</a:t>
            </a:r>
          </a:p>
          <a:p>
            <a:pPr lvl="1"/>
            <a:r>
              <a:rPr lang="en-US" sz="3000" dirty="0" smtClean="0"/>
              <a:t>- </a:t>
            </a:r>
            <a:r>
              <a:rPr lang="en-US" sz="3000" dirty="0" err="1" smtClean="0"/>
              <a:t>Khả</a:t>
            </a:r>
            <a:r>
              <a:rPr lang="en-US" sz="3000" dirty="0" smtClean="0"/>
              <a:t> </a:t>
            </a:r>
            <a:r>
              <a:rPr lang="en-US" sz="3000" dirty="0" err="1"/>
              <a:t>năng</a:t>
            </a:r>
            <a:r>
              <a:rPr lang="en-US" sz="3000" dirty="0"/>
              <a:t> </a:t>
            </a:r>
            <a:r>
              <a:rPr lang="en-US" sz="3000" dirty="0" err="1"/>
              <a:t>chịu</a:t>
            </a:r>
            <a:r>
              <a:rPr lang="en-US" sz="3000" dirty="0"/>
              <a:t> </a:t>
            </a:r>
            <a:r>
              <a:rPr lang="en-US" sz="3000" dirty="0" err="1"/>
              <a:t>tải</a:t>
            </a:r>
            <a:r>
              <a:rPr lang="en-US" sz="3000" dirty="0"/>
              <a:t>: </a:t>
            </a:r>
            <a:r>
              <a:rPr lang="en-US" sz="3000" dirty="0" err="1"/>
              <a:t>Nhờ</a:t>
            </a:r>
            <a:r>
              <a:rPr lang="en-US" sz="3000" dirty="0"/>
              <a:t> </a:t>
            </a:r>
            <a:r>
              <a:rPr lang="en-US" sz="3000" dirty="0" err="1"/>
              <a:t>sử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Web Server </a:t>
            </a:r>
            <a:r>
              <a:rPr lang="en-US" sz="3000" dirty="0" err="1"/>
              <a:t>nhúng</a:t>
            </a:r>
            <a:r>
              <a:rPr lang="en-US" sz="3000" dirty="0"/>
              <a:t> (Tomcat)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chạy</a:t>
            </a:r>
            <a:r>
              <a:rPr lang="en-US" sz="3000" dirty="0"/>
              <a:t> </a:t>
            </a:r>
            <a:r>
              <a:rPr lang="en-US" sz="3000" dirty="0" err="1"/>
              <a:t>trên</a:t>
            </a:r>
            <a:r>
              <a:rPr lang="en-US" sz="3000" dirty="0"/>
              <a:t> </a:t>
            </a:r>
            <a:r>
              <a:rPr lang="en-US" sz="3000" dirty="0" err="1"/>
              <a:t>môi</a:t>
            </a:r>
            <a:r>
              <a:rPr lang="en-US" sz="3000" dirty="0"/>
              <a:t> </a:t>
            </a:r>
            <a:r>
              <a:rPr lang="en-US" sz="3000" dirty="0" err="1"/>
              <a:t>trường</a:t>
            </a:r>
            <a:r>
              <a:rPr lang="en-US" sz="3000" dirty="0"/>
              <a:t> Linux </a:t>
            </a:r>
            <a:r>
              <a:rPr lang="en-US" sz="3000" dirty="0" err="1"/>
              <a:t>tối</a:t>
            </a:r>
            <a:r>
              <a:rPr lang="en-US" sz="3000" dirty="0"/>
              <a:t> </a:t>
            </a:r>
            <a:r>
              <a:rPr lang="en-US" sz="3000" dirty="0" err="1"/>
              <a:t>ưu</a:t>
            </a:r>
            <a:r>
              <a:rPr lang="en-US" sz="3000" dirty="0"/>
              <a:t> (Alpine), </a:t>
            </a:r>
            <a:r>
              <a:rPr lang="en-US" sz="3000" dirty="0" err="1"/>
              <a:t>hệ</a:t>
            </a:r>
            <a:r>
              <a:rPr lang="en-US" sz="3000" dirty="0"/>
              <a:t> </a:t>
            </a:r>
            <a:r>
              <a:rPr lang="en-US" sz="3000" dirty="0" err="1"/>
              <a:t>thống</a:t>
            </a:r>
            <a:r>
              <a:rPr lang="en-US" sz="3000" dirty="0"/>
              <a:t> </a:t>
            </a: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</a:t>
            </a:r>
            <a:r>
              <a:rPr lang="en-US" sz="3000" dirty="0" err="1"/>
              <a:t>xử</a:t>
            </a:r>
            <a:r>
              <a:rPr lang="en-US" sz="3000" dirty="0"/>
              <a:t> </a:t>
            </a:r>
            <a:r>
              <a:rPr lang="en-US" sz="3000" dirty="0" err="1"/>
              <a:t>lý</a:t>
            </a:r>
            <a:r>
              <a:rPr lang="en-US" sz="3000" dirty="0"/>
              <a:t> </a:t>
            </a:r>
            <a:r>
              <a:rPr lang="en-US" sz="3000" dirty="0" err="1"/>
              <a:t>đồng</a:t>
            </a:r>
            <a:r>
              <a:rPr lang="en-US" sz="3000" dirty="0"/>
              <a:t> </a:t>
            </a:r>
            <a:r>
              <a:rPr lang="en-US" sz="3000" dirty="0" err="1"/>
              <a:t>thời</a:t>
            </a:r>
            <a:r>
              <a:rPr lang="en-US" sz="3000" dirty="0"/>
              <a:t> </a:t>
            </a:r>
            <a:r>
              <a:rPr lang="en-US" sz="3000" dirty="0" err="1"/>
              <a:t>nhiều</a:t>
            </a:r>
            <a:r>
              <a:rPr lang="en-US" sz="3000" dirty="0"/>
              <a:t> </a:t>
            </a:r>
            <a:r>
              <a:rPr lang="en-US" sz="3000" dirty="0" err="1"/>
              <a:t>yêu</a:t>
            </a:r>
            <a:r>
              <a:rPr lang="en-US" sz="3000" dirty="0"/>
              <a:t> </a:t>
            </a:r>
            <a:r>
              <a:rPr lang="en-US" sz="3000" dirty="0" err="1"/>
              <a:t>cầu</a:t>
            </a:r>
            <a:r>
              <a:rPr lang="en-US" sz="3000" dirty="0"/>
              <a:t> </a:t>
            </a:r>
            <a:r>
              <a:rPr lang="en-US" sz="3000" dirty="0" err="1"/>
              <a:t>truy</a:t>
            </a:r>
            <a:r>
              <a:rPr lang="en-US" sz="3000" dirty="0"/>
              <a:t> </a:t>
            </a:r>
            <a:r>
              <a:rPr lang="en-US" sz="3000" dirty="0" err="1"/>
              <a:t>cập</a:t>
            </a:r>
            <a:r>
              <a:rPr lang="en-US" sz="3000" dirty="0"/>
              <a:t> </a:t>
            </a:r>
            <a:r>
              <a:rPr lang="en-US" sz="3000" dirty="0" err="1"/>
              <a:t>cơ</a:t>
            </a:r>
            <a:r>
              <a:rPr lang="en-US" sz="3000" dirty="0"/>
              <a:t> </a:t>
            </a:r>
            <a:r>
              <a:rPr lang="en-US" sz="3000" dirty="0" err="1" smtClean="0"/>
              <a:t>bản</a:t>
            </a:r>
            <a:r>
              <a:rPr lang="en-US" sz="3000" dirty="0" smtClean="0"/>
              <a:t>.</a:t>
            </a:r>
          </a:p>
          <a:p>
            <a:pPr lvl="0"/>
            <a:r>
              <a:rPr lang="en-US" sz="3000" b="1" dirty="0" smtClean="0"/>
              <a:t>2</a:t>
            </a:r>
            <a:r>
              <a:rPr lang="en-US" sz="3000" b="1" dirty="0"/>
              <a:t>. </a:t>
            </a:r>
            <a:r>
              <a:rPr lang="en-US" sz="3000" b="1" dirty="0" err="1"/>
              <a:t>Đánh</a:t>
            </a:r>
            <a:r>
              <a:rPr lang="en-US" sz="3000" b="1" dirty="0"/>
              <a:t> </a:t>
            </a:r>
            <a:r>
              <a:rPr lang="en-US" sz="3000" b="1" dirty="0" err="1"/>
              <a:t>giá</a:t>
            </a:r>
            <a:r>
              <a:rPr lang="en-US" sz="3000" b="1" dirty="0"/>
              <a:t> </a:t>
            </a:r>
            <a:r>
              <a:rPr lang="en-US" sz="3000" b="1" dirty="0" err="1"/>
              <a:t>tính</a:t>
            </a:r>
            <a:r>
              <a:rPr lang="en-US" sz="3000" b="1" dirty="0"/>
              <a:t> </a:t>
            </a:r>
            <a:r>
              <a:rPr lang="en-US" sz="3000" b="1" dirty="0" err="1"/>
              <a:t>ổn</a:t>
            </a:r>
            <a:r>
              <a:rPr lang="en-US" sz="3000" b="1" dirty="0"/>
              <a:t> </a:t>
            </a:r>
            <a:r>
              <a:rPr lang="en-US" sz="3000" b="1" dirty="0" err="1"/>
              <a:t>định</a:t>
            </a:r>
            <a:endParaRPr lang="en-US" sz="3000" b="1" dirty="0"/>
          </a:p>
          <a:p>
            <a:pPr lvl="1"/>
            <a:r>
              <a:rPr lang="en-US" sz="3000" dirty="0" smtClean="0"/>
              <a:t>- Zero Downtime Deployment: </a:t>
            </a:r>
            <a:r>
              <a:rPr lang="en-US" sz="3000" dirty="0" err="1" smtClean="0"/>
              <a:t>Cơ</a:t>
            </a:r>
            <a:r>
              <a:rPr lang="en-US" sz="3000" dirty="0" smtClean="0"/>
              <a:t> </a:t>
            </a:r>
            <a:r>
              <a:rPr lang="en-US" sz="3000" dirty="0" err="1" smtClean="0"/>
              <a:t>chế</a:t>
            </a:r>
            <a:r>
              <a:rPr lang="en-US" sz="3000" dirty="0" smtClean="0"/>
              <a:t> deploy </a:t>
            </a:r>
            <a:r>
              <a:rPr lang="en-US" sz="3000" dirty="0" err="1" smtClean="0"/>
              <a:t>của</a:t>
            </a:r>
            <a:r>
              <a:rPr lang="en-US" sz="3000" dirty="0" smtClean="0"/>
              <a:t> Render </a:t>
            </a:r>
            <a:r>
              <a:rPr lang="en-US" sz="3000" dirty="0" err="1" smtClean="0"/>
              <a:t>giúp</a:t>
            </a:r>
            <a:r>
              <a:rPr lang="en-US" sz="3000" dirty="0" smtClean="0"/>
              <a:t> </a:t>
            </a:r>
            <a:r>
              <a:rPr lang="en-US" sz="3000" dirty="0" err="1" smtClean="0"/>
              <a:t>ứng</a:t>
            </a:r>
            <a:r>
              <a:rPr lang="en-US" sz="3000" dirty="0" smtClean="0"/>
              <a:t> </a:t>
            </a:r>
            <a:r>
              <a:rPr lang="en-US" sz="3000" dirty="0" err="1" smtClean="0"/>
              <a:t>dụng</a:t>
            </a:r>
            <a:r>
              <a:rPr lang="en-US" sz="3000" dirty="0" smtClean="0"/>
              <a:t> </a:t>
            </a:r>
            <a:r>
              <a:rPr lang="en-US" sz="3000" dirty="0" err="1" smtClean="0"/>
              <a:t>không</a:t>
            </a:r>
            <a:r>
              <a:rPr lang="en-US" sz="3000" dirty="0" smtClean="0"/>
              <a:t> </a:t>
            </a:r>
            <a:r>
              <a:rPr lang="en-US" sz="3000" dirty="0" err="1" smtClean="0"/>
              <a:t>bị</a:t>
            </a:r>
            <a:r>
              <a:rPr lang="en-US" sz="3000" dirty="0" smtClean="0"/>
              <a:t> </a:t>
            </a:r>
            <a:r>
              <a:rPr lang="en-US" sz="3000" dirty="0" err="1" smtClean="0"/>
              <a:t>gián</a:t>
            </a:r>
            <a:r>
              <a:rPr lang="en-US" sz="3000" dirty="0" smtClean="0"/>
              <a:t> </a:t>
            </a:r>
            <a:r>
              <a:rPr lang="en-US" sz="3000" dirty="0" err="1" smtClean="0"/>
              <a:t>đoạn</a:t>
            </a:r>
            <a:r>
              <a:rPr lang="en-US" sz="3000" dirty="0" smtClean="0"/>
              <a:t> </a:t>
            </a:r>
            <a:r>
              <a:rPr lang="en-US" sz="3000" dirty="0" err="1" smtClean="0"/>
              <a:t>dịch</a:t>
            </a:r>
            <a:r>
              <a:rPr lang="en-US" sz="3000" dirty="0" smtClean="0"/>
              <a:t> </a:t>
            </a:r>
            <a:r>
              <a:rPr lang="en-US" sz="3000" dirty="0" err="1" smtClean="0"/>
              <a:t>vụ</a:t>
            </a:r>
            <a:r>
              <a:rPr lang="en-US" sz="3000" dirty="0" smtClean="0"/>
              <a:t> </a:t>
            </a:r>
            <a:r>
              <a:rPr lang="en-US" sz="3000" dirty="0" err="1" smtClean="0"/>
              <a:t>khi</a:t>
            </a:r>
            <a:r>
              <a:rPr lang="en-US" sz="3000" dirty="0" smtClean="0"/>
              <a:t> </a:t>
            </a:r>
            <a:r>
              <a:rPr lang="en-US" sz="3000" dirty="0" err="1" smtClean="0"/>
              <a:t>cập</a:t>
            </a:r>
            <a:r>
              <a:rPr lang="en-US" sz="3000" dirty="0" smtClean="0"/>
              <a:t> </a:t>
            </a:r>
            <a:r>
              <a:rPr lang="en-US" sz="3000" dirty="0" err="1" smtClean="0"/>
              <a:t>nhật</a:t>
            </a:r>
            <a:r>
              <a:rPr lang="en-US" sz="3000" dirty="0" smtClean="0"/>
              <a:t> </a:t>
            </a:r>
            <a:r>
              <a:rPr lang="en-US" sz="3000" dirty="0" err="1" smtClean="0"/>
              <a:t>phiên</a:t>
            </a:r>
            <a:r>
              <a:rPr lang="en-US" sz="3000" dirty="0" smtClean="0"/>
              <a:t> </a:t>
            </a:r>
            <a:r>
              <a:rPr lang="en-US" sz="3000" dirty="0" err="1" smtClean="0"/>
              <a:t>bản</a:t>
            </a:r>
            <a:r>
              <a:rPr lang="en-US" sz="3000" dirty="0" smtClean="0"/>
              <a:t> </a:t>
            </a:r>
            <a:r>
              <a:rPr lang="en-US" sz="3000" dirty="0" err="1" smtClean="0"/>
              <a:t>mới</a:t>
            </a:r>
            <a:r>
              <a:rPr lang="en-US" sz="3000" dirty="0" smtClean="0"/>
              <a:t>. </a:t>
            </a:r>
            <a:r>
              <a:rPr lang="en-US" sz="3000" dirty="0" err="1" smtClean="0"/>
              <a:t>Người</a:t>
            </a:r>
            <a:r>
              <a:rPr lang="en-US" sz="3000" dirty="0" smtClean="0"/>
              <a:t> </a:t>
            </a:r>
            <a:r>
              <a:rPr lang="en-US" sz="3000" dirty="0" err="1" smtClean="0"/>
              <a:t>dùng</a:t>
            </a:r>
            <a:r>
              <a:rPr lang="en-US" sz="3000" dirty="0" smtClean="0"/>
              <a:t> </a:t>
            </a:r>
            <a:r>
              <a:rPr lang="en-US" sz="3000" dirty="0" err="1" smtClean="0"/>
              <a:t>đang</a:t>
            </a:r>
            <a:r>
              <a:rPr lang="en-US" sz="3000" dirty="0" smtClean="0"/>
              <a:t> </a:t>
            </a:r>
            <a:r>
              <a:rPr lang="en-US" sz="3000" dirty="0" err="1" smtClean="0"/>
              <a:t>xem</a:t>
            </a:r>
            <a:r>
              <a:rPr lang="en-US" sz="3000" dirty="0" smtClean="0"/>
              <a:t> web </a:t>
            </a:r>
            <a:r>
              <a:rPr lang="en-US" sz="3000" dirty="0" err="1" smtClean="0"/>
              <a:t>vẫn</a:t>
            </a:r>
            <a:r>
              <a:rPr lang="en-US" sz="3000" dirty="0" smtClean="0"/>
              <a:t> </a:t>
            </a:r>
            <a:r>
              <a:rPr lang="en-US" sz="3000" dirty="0" err="1" smtClean="0"/>
              <a:t>có</a:t>
            </a:r>
            <a:r>
              <a:rPr lang="en-US" sz="3000" dirty="0" smtClean="0"/>
              <a:t> </a:t>
            </a:r>
            <a:r>
              <a:rPr lang="en-US" sz="3000" dirty="0" err="1" smtClean="0"/>
              <a:t>thể</a:t>
            </a:r>
            <a:r>
              <a:rPr lang="en-US" sz="3000" dirty="0" smtClean="0"/>
              <a:t> </a:t>
            </a:r>
            <a:r>
              <a:rPr lang="en-US" sz="3000" dirty="0" err="1" smtClean="0"/>
              <a:t>tiếp</a:t>
            </a:r>
            <a:r>
              <a:rPr lang="en-US" sz="3000" dirty="0" smtClean="0"/>
              <a:t> </a:t>
            </a:r>
            <a:r>
              <a:rPr lang="en-US" sz="3000" dirty="0" err="1" smtClean="0"/>
              <a:t>tục</a:t>
            </a:r>
            <a:r>
              <a:rPr lang="en-US" sz="3000" dirty="0" smtClean="0"/>
              <a:t> </a:t>
            </a:r>
            <a:r>
              <a:rPr lang="en-US" sz="3000" dirty="0" err="1" smtClean="0"/>
              <a:t>thao</a:t>
            </a:r>
            <a:r>
              <a:rPr lang="en-US" sz="3000" dirty="0" smtClean="0"/>
              <a:t> </a:t>
            </a:r>
            <a:r>
              <a:rPr lang="en-US" sz="3000" dirty="0" err="1" smtClean="0"/>
              <a:t>tác</a:t>
            </a:r>
            <a:r>
              <a:rPr lang="en-US" sz="3000" dirty="0" smtClean="0"/>
              <a:t> </a:t>
            </a:r>
            <a:r>
              <a:rPr lang="en-US" sz="3000" dirty="0" err="1" smtClean="0"/>
              <a:t>bình</a:t>
            </a:r>
            <a:r>
              <a:rPr lang="en-US" sz="3000" dirty="0" smtClean="0"/>
              <a:t> </a:t>
            </a:r>
            <a:r>
              <a:rPr lang="en-US" sz="3000" dirty="0" err="1" smtClean="0"/>
              <a:t>thường</a:t>
            </a:r>
            <a:r>
              <a:rPr lang="en-US" sz="3000" dirty="0" smtClean="0"/>
              <a:t> </a:t>
            </a:r>
            <a:r>
              <a:rPr lang="en-US" sz="3000" dirty="0" err="1" smtClean="0"/>
              <a:t>trong</a:t>
            </a:r>
            <a:r>
              <a:rPr lang="en-US" sz="3000" dirty="0" smtClean="0"/>
              <a:t> </a:t>
            </a:r>
            <a:r>
              <a:rPr lang="en-US" sz="3000" dirty="0" err="1" smtClean="0"/>
              <a:t>khi</a:t>
            </a:r>
            <a:r>
              <a:rPr lang="en-US" sz="3000" dirty="0" smtClean="0"/>
              <a:t> </a:t>
            </a:r>
            <a:r>
              <a:rPr lang="en-US" sz="3000" dirty="0" err="1" smtClean="0"/>
              <a:t>hệ</a:t>
            </a:r>
            <a:r>
              <a:rPr lang="en-US" sz="3000" dirty="0" smtClean="0"/>
              <a:t> </a:t>
            </a:r>
            <a:r>
              <a:rPr lang="en-US" sz="3000" dirty="0" err="1" smtClean="0"/>
              <a:t>thống</a:t>
            </a:r>
            <a:r>
              <a:rPr lang="en-US" sz="3000" dirty="0" smtClean="0"/>
              <a:t> </a:t>
            </a:r>
            <a:r>
              <a:rPr lang="en-US" sz="3000" dirty="0" err="1" smtClean="0"/>
              <a:t>đang</a:t>
            </a:r>
            <a:r>
              <a:rPr lang="en-US" sz="3000" dirty="0" smtClean="0"/>
              <a:t> </a:t>
            </a:r>
            <a:r>
              <a:rPr lang="en-US" sz="3000" dirty="0" err="1" smtClean="0"/>
              <a:t>cập</a:t>
            </a:r>
            <a:r>
              <a:rPr lang="en-US" sz="3000" dirty="0" smtClean="0"/>
              <a:t> </a:t>
            </a:r>
            <a:r>
              <a:rPr lang="en-US" sz="3000" dirty="0" err="1" smtClean="0"/>
              <a:t>nhật</a:t>
            </a:r>
            <a:r>
              <a:rPr lang="en-US" sz="3000" dirty="0" smtClean="0"/>
              <a:t> </a:t>
            </a:r>
            <a:r>
              <a:rPr lang="en-US" sz="3000" dirty="0" err="1" smtClean="0"/>
              <a:t>ngầm</a:t>
            </a:r>
            <a:r>
              <a:rPr lang="en-US" sz="3000" dirty="0" smtClean="0"/>
              <a:t>.</a:t>
            </a:r>
          </a:p>
          <a:p>
            <a:pPr lvl="1"/>
            <a:r>
              <a:rPr lang="en-US" sz="3000" dirty="0" smtClean="0"/>
              <a:t>- </a:t>
            </a:r>
            <a:r>
              <a:rPr lang="en-US" sz="3000" dirty="0" err="1" smtClean="0"/>
              <a:t>Tự</a:t>
            </a:r>
            <a:r>
              <a:rPr lang="en-US" sz="3000" dirty="0" smtClean="0"/>
              <a:t> </a:t>
            </a:r>
            <a:r>
              <a:rPr lang="en-US" sz="3000" dirty="0" err="1" smtClean="0"/>
              <a:t>phục</a:t>
            </a:r>
            <a:r>
              <a:rPr lang="en-US" sz="3000" dirty="0" smtClean="0"/>
              <a:t> </a:t>
            </a:r>
            <a:r>
              <a:rPr lang="en-US" sz="3000" dirty="0" err="1" smtClean="0"/>
              <a:t>hồi</a:t>
            </a:r>
            <a:r>
              <a:rPr lang="en-US" sz="3000" b="1" dirty="0" smtClean="0"/>
              <a:t>:</a:t>
            </a:r>
            <a:r>
              <a:rPr lang="en-US" sz="3000" dirty="0" smtClean="0"/>
              <a:t> </a:t>
            </a:r>
            <a:r>
              <a:rPr lang="en-US" sz="3000" dirty="0" err="1" smtClean="0"/>
              <a:t>Nếu</a:t>
            </a:r>
            <a:r>
              <a:rPr lang="en-US" sz="3000" dirty="0" smtClean="0"/>
              <a:t> container </a:t>
            </a:r>
            <a:r>
              <a:rPr lang="en-US" sz="3000" dirty="0" err="1" smtClean="0"/>
              <a:t>gặp</a:t>
            </a:r>
            <a:r>
              <a:rPr lang="en-US" sz="3000" dirty="0" smtClean="0"/>
              <a:t> </a:t>
            </a:r>
            <a:r>
              <a:rPr lang="en-US" sz="3000" dirty="0" err="1" smtClean="0"/>
              <a:t>lỗi</a:t>
            </a:r>
            <a:r>
              <a:rPr lang="en-US" sz="3000" dirty="0" smtClean="0"/>
              <a:t> </a:t>
            </a:r>
            <a:r>
              <a:rPr lang="en-US" sz="3000" dirty="0" err="1" smtClean="0"/>
              <a:t>và</a:t>
            </a:r>
            <a:r>
              <a:rPr lang="en-US" sz="3000" dirty="0" smtClean="0"/>
              <a:t> </a:t>
            </a:r>
            <a:r>
              <a:rPr lang="en-US" sz="3000" dirty="0" err="1" smtClean="0"/>
              <a:t>bị</a:t>
            </a:r>
            <a:r>
              <a:rPr lang="en-US" sz="3000" dirty="0" smtClean="0"/>
              <a:t> </a:t>
            </a:r>
            <a:r>
              <a:rPr lang="en-US" sz="3000" dirty="0" err="1" smtClean="0"/>
              <a:t>tắt</a:t>
            </a:r>
            <a:r>
              <a:rPr lang="en-US" sz="3000" dirty="0" smtClean="0"/>
              <a:t>, </a:t>
            </a:r>
            <a:r>
              <a:rPr lang="en-US" sz="3000" dirty="0" err="1" smtClean="0"/>
              <a:t>nền</a:t>
            </a:r>
            <a:r>
              <a:rPr lang="en-US" sz="3000" dirty="0" smtClean="0"/>
              <a:t> </a:t>
            </a:r>
            <a:r>
              <a:rPr lang="en-US" sz="3000" dirty="0" err="1" smtClean="0"/>
              <a:t>tảng</a:t>
            </a:r>
            <a:r>
              <a:rPr lang="en-US" sz="3000" dirty="0" smtClean="0"/>
              <a:t> </a:t>
            </a:r>
            <a:r>
              <a:rPr lang="en-US" sz="3000" dirty="0" err="1" smtClean="0"/>
              <a:t>Docker</a:t>
            </a:r>
            <a:r>
              <a:rPr lang="en-US" sz="3000" dirty="0" smtClean="0"/>
              <a:t>/Render </a:t>
            </a:r>
            <a:r>
              <a:rPr lang="en-US" sz="3000" dirty="0" err="1" smtClean="0"/>
              <a:t>sẽ</a:t>
            </a:r>
            <a:r>
              <a:rPr lang="en-US" sz="3000" dirty="0" smtClean="0"/>
              <a:t> </a:t>
            </a:r>
            <a:r>
              <a:rPr lang="en-US" sz="3000" dirty="0" err="1" smtClean="0"/>
              <a:t>tự</a:t>
            </a:r>
            <a:r>
              <a:rPr lang="en-US" sz="3000" dirty="0" smtClean="0"/>
              <a:t> </a:t>
            </a:r>
            <a:r>
              <a:rPr lang="en-US" sz="3000" dirty="0" err="1" smtClean="0"/>
              <a:t>động</a:t>
            </a:r>
            <a:r>
              <a:rPr lang="en-US" sz="3000" dirty="0" smtClean="0"/>
              <a:t> </a:t>
            </a:r>
            <a:r>
              <a:rPr lang="en-US" sz="3000" dirty="0" err="1" smtClean="0"/>
              <a:t>khởi</a:t>
            </a:r>
            <a:r>
              <a:rPr lang="en-US" sz="3000" dirty="0" smtClean="0"/>
              <a:t> </a:t>
            </a:r>
            <a:r>
              <a:rPr lang="en-US" sz="3000" dirty="0" err="1" smtClean="0"/>
              <a:t>động</a:t>
            </a:r>
            <a:r>
              <a:rPr lang="en-US" sz="3000" dirty="0" smtClean="0"/>
              <a:t> </a:t>
            </a:r>
            <a:r>
              <a:rPr lang="en-US" sz="3000" dirty="0" err="1" smtClean="0"/>
              <a:t>lại</a:t>
            </a:r>
            <a:r>
              <a:rPr lang="en-US" sz="3000" dirty="0" smtClean="0"/>
              <a:t> container </a:t>
            </a:r>
            <a:r>
              <a:rPr lang="en-US" sz="3000" dirty="0" err="1" smtClean="0"/>
              <a:t>mới</a:t>
            </a:r>
            <a:r>
              <a:rPr lang="en-US" sz="3000" dirty="0" smtClean="0"/>
              <a:t> </a:t>
            </a:r>
            <a:r>
              <a:rPr lang="en-US" sz="3000" dirty="0" err="1" smtClean="0"/>
              <a:t>để</a:t>
            </a:r>
            <a:r>
              <a:rPr lang="en-US" sz="3000" dirty="0" smtClean="0"/>
              <a:t> </a:t>
            </a:r>
            <a:r>
              <a:rPr lang="en-US" sz="3000" dirty="0" err="1" smtClean="0"/>
              <a:t>duy</a:t>
            </a:r>
            <a:r>
              <a:rPr lang="en-US" sz="3000" dirty="0" smtClean="0"/>
              <a:t> </a:t>
            </a:r>
            <a:r>
              <a:rPr lang="en-US" sz="3000" dirty="0" err="1" smtClean="0"/>
              <a:t>trì</a:t>
            </a:r>
            <a:r>
              <a:rPr lang="en-US" sz="3000" dirty="0" smtClean="0"/>
              <a:t> </a:t>
            </a:r>
            <a:r>
              <a:rPr lang="en-US" sz="3000" dirty="0" err="1" smtClean="0"/>
              <a:t>dịch</a:t>
            </a:r>
            <a:r>
              <a:rPr lang="en-US" sz="3000" dirty="0" smtClean="0"/>
              <a:t> </a:t>
            </a:r>
            <a:r>
              <a:rPr lang="en-US" sz="3000" dirty="0" err="1" smtClean="0"/>
              <a:t>vụ</a:t>
            </a:r>
            <a:r>
              <a:rPr lang="en-US" sz="3000" dirty="0" smtClean="0"/>
              <a:t>.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5731737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95300"/>
            <a:ext cx="8229600" cy="1143000"/>
          </a:xfrm>
        </p:spPr>
        <p:txBody>
          <a:bodyPr/>
          <a:lstStyle/>
          <a:p>
            <a:pPr algn="l"/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8600" y="2324100"/>
            <a:ext cx="17678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000" dirty="0" smtClean="0"/>
              <a:t>- </a:t>
            </a:r>
            <a:r>
              <a:rPr lang="en-US" sz="3000" dirty="0" err="1" smtClean="0"/>
              <a:t>Dữ</a:t>
            </a:r>
            <a:r>
              <a:rPr lang="en-US" sz="3000" dirty="0" smtClean="0"/>
              <a:t> </a:t>
            </a:r>
            <a:r>
              <a:rPr lang="en-US" sz="3000" dirty="0" err="1"/>
              <a:t>liệu</a:t>
            </a:r>
            <a:r>
              <a:rPr lang="en-US" sz="3000" dirty="0"/>
              <a:t> </a:t>
            </a:r>
            <a:r>
              <a:rPr lang="en-US" sz="3000" dirty="0" err="1"/>
              <a:t>giả</a:t>
            </a:r>
            <a:r>
              <a:rPr lang="en-US" sz="3000" dirty="0"/>
              <a:t> </a:t>
            </a:r>
            <a:r>
              <a:rPr lang="en-US" sz="3000" dirty="0" err="1"/>
              <a:t>lập</a:t>
            </a:r>
            <a:r>
              <a:rPr lang="en-US" sz="3000" dirty="0"/>
              <a:t>: </a:t>
            </a:r>
            <a:r>
              <a:rPr lang="en-US" sz="3000" dirty="0" err="1"/>
              <a:t>Hệ</a:t>
            </a:r>
            <a:r>
              <a:rPr lang="en-US" sz="3000" dirty="0"/>
              <a:t> </a:t>
            </a:r>
            <a:r>
              <a:rPr lang="en-US" sz="3000" dirty="0" err="1"/>
              <a:t>thống</a:t>
            </a:r>
            <a:r>
              <a:rPr lang="en-US" sz="3000" dirty="0"/>
              <a:t> </a:t>
            </a:r>
            <a:r>
              <a:rPr lang="en-US" sz="3000" dirty="0" err="1"/>
              <a:t>hiện</a:t>
            </a:r>
            <a:r>
              <a:rPr lang="en-US" sz="3000" dirty="0"/>
              <a:t> </a:t>
            </a:r>
            <a:r>
              <a:rPr lang="en-US" sz="3000" dirty="0" err="1"/>
              <a:t>tại</a:t>
            </a:r>
            <a:r>
              <a:rPr lang="en-US" sz="3000" dirty="0"/>
              <a:t> </a:t>
            </a:r>
            <a:r>
              <a:rPr lang="en-US" sz="3000" dirty="0" err="1"/>
              <a:t>sử</a:t>
            </a:r>
            <a:r>
              <a:rPr lang="en-US" sz="3000" dirty="0"/>
              <a:t> </a:t>
            </a:r>
            <a:r>
              <a:rPr lang="en-US" sz="3000" dirty="0" err="1"/>
              <a:t>dụng</a:t>
            </a:r>
            <a:r>
              <a:rPr lang="en-US" sz="3000" dirty="0"/>
              <a:t> </a:t>
            </a:r>
            <a:r>
              <a:rPr lang="en-US" sz="3000" dirty="0" err="1"/>
              <a:t>dữ</a:t>
            </a:r>
            <a:r>
              <a:rPr lang="en-US" sz="3000" dirty="0"/>
              <a:t> </a:t>
            </a:r>
            <a:r>
              <a:rPr lang="en-US" sz="3000" dirty="0" err="1"/>
              <a:t>liệu</a:t>
            </a:r>
            <a:r>
              <a:rPr lang="en-US" sz="3000" dirty="0"/>
              <a:t> </a:t>
            </a:r>
            <a:r>
              <a:rPr lang="en-US" sz="3000" dirty="0" err="1"/>
              <a:t>giả</a:t>
            </a:r>
            <a:r>
              <a:rPr lang="en-US" sz="3000" dirty="0"/>
              <a:t> </a:t>
            </a:r>
            <a:r>
              <a:rPr lang="en-US" sz="3000" dirty="0" err="1"/>
              <a:t>lập</a:t>
            </a:r>
            <a:r>
              <a:rPr lang="en-US" sz="3000" dirty="0"/>
              <a:t> (Mock Data) </a:t>
            </a:r>
            <a:r>
              <a:rPr lang="en-US" sz="3000" dirty="0" err="1"/>
              <a:t>trong</a:t>
            </a:r>
            <a:r>
              <a:rPr lang="en-US" sz="3000" dirty="0"/>
              <a:t> </a:t>
            </a:r>
            <a:r>
              <a:rPr lang="en-US" sz="3000" dirty="0" err="1"/>
              <a:t>bộ</a:t>
            </a:r>
            <a:r>
              <a:rPr lang="en-US" sz="3000" dirty="0"/>
              <a:t> </a:t>
            </a:r>
            <a:r>
              <a:rPr lang="en-US" sz="3000" dirty="0" err="1"/>
              <a:t>nhớ</a:t>
            </a:r>
            <a:r>
              <a:rPr lang="en-US" sz="3000" dirty="0"/>
              <a:t> </a:t>
            </a:r>
            <a:r>
              <a:rPr lang="en-US" sz="3000" dirty="0" err="1"/>
              <a:t>thay</a:t>
            </a:r>
            <a:r>
              <a:rPr lang="en-US" sz="3000" dirty="0"/>
              <a:t> </a:t>
            </a:r>
            <a:r>
              <a:rPr lang="en-US" sz="3000" dirty="0" err="1"/>
              <a:t>vì</a:t>
            </a:r>
            <a:r>
              <a:rPr lang="en-US" sz="3000" dirty="0"/>
              <a:t> </a:t>
            </a:r>
            <a:r>
              <a:rPr lang="en-US" sz="3000" dirty="0" err="1"/>
              <a:t>kết</a:t>
            </a:r>
            <a:r>
              <a:rPr lang="en-US" sz="3000" dirty="0"/>
              <a:t> </a:t>
            </a:r>
            <a:r>
              <a:rPr lang="en-US" sz="3000" dirty="0" err="1"/>
              <a:t>nối</a:t>
            </a:r>
            <a:r>
              <a:rPr lang="en-US" sz="3000" dirty="0"/>
              <a:t> </a:t>
            </a:r>
            <a:r>
              <a:rPr lang="en-US" sz="3000" dirty="0" err="1"/>
              <a:t>với</a:t>
            </a:r>
            <a:r>
              <a:rPr lang="en-US" sz="3000" dirty="0"/>
              <a:t> </a:t>
            </a:r>
            <a:r>
              <a:rPr lang="en-US" sz="3000" dirty="0" err="1"/>
              <a:t>một</a:t>
            </a:r>
            <a:r>
              <a:rPr lang="en-US" sz="3000" dirty="0"/>
              <a:t> </a:t>
            </a:r>
            <a:r>
              <a:rPr lang="en-US" sz="3000" dirty="0" err="1"/>
              <a:t>cơ</a:t>
            </a:r>
            <a:r>
              <a:rPr lang="en-US" sz="3000" dirty="0"/>
              <a:t> </a:t>
            </a:r>
            <a:r>
              <a:rPr lang="en-US" sz="3000" dirty="0" err="1"/>
              <a:t>sở</a:t>
            </a:r>
            <a:r>
              <a:rPr lang="en-US" sz="3000" dirty="0"/>
              <a:t> </a:t>
            </a:r>
            <a:r>
              <a:rPr lang="en-US" sz="3000" dirty="0" err="1"/>
              <a:t>dữ</a:t>
            </a:r>
            <a:r>
              <a:rPr lang="en-US" sz="3000" dirty="0"/>
              <a:t> </a:t>
            </a:r>
            <a:r>
              <a:rPr lang="en-US" sz="3000" dirty="0" err="1"/>
              <a:t>liệu</a:t>
            </a:r>
            <a:r>
              <a:rPr lang="en-US" sz="3000" dirty="0"/>
              <a:t> </a:t>
            </a:r>
            <a:r>
              <a:rPr lang="en-US" sz="3000" dirty="0" err="1"/>
              <a:t>thực</a:t>
            </a:r>
            <a:r>
              <a:rPr lang="en-US" sz="3000" dirty="0"/>
              <a:t> </a:t>
            </a:r>
            <a:r>
              <a:rPr lang="en-US" sz="3000" dirty="0" err="1"/>
              <a:t>tế</a:t>
            </a:r>
            <a:r>
              <a:rPr lang="en-US" sz="3000" dirty="0"/>
              <a:t> (</a:t>
            </a:r>
            <a:r>
              <a:rPr lang="en-US" sz="3000" dirty="0" err="1"/>
              <a:t>như</a:t>
            </a:r>
            <a:r>
              <a:rPr lang="en-US" sz="3000" dirty="0"/>
              <a:t> MySQL hay </a:t>
            </a:r>
            <a:r>
              <a:rPr lang="en-US" sz="3000" dirty="0" err="1"/>
              <a:t>PostgreSQL</a:t>
            </a:r>
            <a:r>
              <a:rPr lang="en-US" sz="3000" dirty="0"/>
              <a:t>) </a:t>
            </a:r>
            <a:r>
              <a:rPr lang="en-US" sz="3000" dirty="0" err="1"/>
              <a:t>hoặc</a:t>
            </a:r>
            <a:r>
              <a:rPr lang="en-US" sz="3000" dirty="0"/>
              <a:t> API </a:t>
            </a:r>
            <a:r>
              <a:rPr lang="en-US" sz="3000" dirty="0" err="1"/>
              <a:t>từ</a:t>
            </a:r>
            <a:r>
              <a:rPr lang="en-US" sz="3000" dirty="0"/>
              <a:t> </a:t>
            </a:r>
            <a:r>
              <a:rPr lang="en-US" sz="3000" dirty="0" err="1"/>
              <a:t>bên</a:t>
            </a:r>
            <a:r>
              <a:rPr lang="en-US" sz="3000" dirty="0"/>
              <a:t> </a:t>
            </a:r>
            <a:r>
              <a:rPr lang="en-US" sz="3000" dirty="0" err="1"/>
              <a:t>thứ</a:t>
            </a:r>
            <a:r>
              <a:rPr lang="en-US" sz="3000" dirty="0"/>
              <a:t> </a:t>
            </a:r>
            <a:r>
              <a:rPr lang="en-US" sz="3000" dirty="0" err="1"/>
              <a:t>ba</a:t>
            </a:r>
            <a:r>
              <a:rPr lang="en-US" sz="3000" dirty="0"/>
              <a:t>. </a:t>
            </a:r>
            <a:r>
              <a:rPr lang="en-US" sz="3000" dirty="0" err="1"/>
              <a:t>Điều</a:t>
            </a:r>
            <a:r>
              <a:rPr lang="en-US" sz="3000" dirty="0"/>
              <a:t> </a:t>
            </a:r>
            <a:r>
              <a:rPr lang="en-US" sz="3000" dirty="0" err="1"/>
              <a:t>này</a:t>
            </a:r>
            <a:r>
              <a:rPr lang="en-US" sz="3000" dirty="0"/>
              <a:t> </a:t>
            </a:r>
            <a:r>
              <a:rPr lang="en-US" sz="3000" dirty="0" err="1"/>
              <a:t>hạn</a:t>
            </a:r>
            <a:r>
              <a:rPr lang="en-US" sz="3000" dirty="0"/>
              <a:t> </a:t>
            </a:r>
            <a:r>
              <a:rPr lang="en-US" sz="3000" dirty="0" err="1"/>
              <a:t>chế</a:t>
            </a:r>
            <a:r>
              <a:rPr lang="en-US" sz="3000" dirty="0"/>
              <a:t> </a:t>
            </a:r>
            <a:r>
              <a:rPr lang="en-US" sz="3000" dirty="0" err="1"/>
              <a:t>khả</a:t>
            </a:r>
            <a:r>
              <a:rPr lang="en-US" sz="3000" dirty="0"/>
              <a:t> </a:t>
            </a:r>
            <a:r>
              <a:rPr lang="en-US" sz="3000" dirty="0" err="1"/>
              <a:t>năng</a:t>
            </a:r>
            <a:r>
              <a:rPr lang="en-US" sz="3000" dirty="0"/>
              <a:t> </a:t>
            </a:r>
            <a:r>
              <a:rPr lang="en-US" sz="3000" dirty="0" err="1"/>
              <a:t>lưu</a:t>
            </a:r>
            <a:r>
              <a:rPr lang="en-US" sz="3000" dirty="0"/>
              <a:t> </a:t>
            </a:r>
            <a:r>
              <a:rPr lang="en-US" sz="3000" dirty="0" err="1"/>
              <a:t>trữ</a:t>
            </a:r>
            <a:r>
              <a:rPr lang="en-US" sz="3000" dirty="0"/>
              <a:t> </a:t>
            </a:r>
            <a:r>
              <a:rPr lang="en-US" sz="3000" dirty="0" err="1"/>
              <a:t>lịch</a:t>
            </a:r>
            <a:r>
              <a:rPr lang="en-US" sz="3000" dirty="0"/>
              <a:t> </a:t>
            </a:r>
            <a:r>
              <a:rPr lang="en-US" sz="3000" dirty="0" err="1"/>
              <a:t>sử</a:t>
            </a:r>
            <a:r>
              <a:rPr lang="en-US" sz="3000" dirty="0"/>
              <a:t> </a:t>
            </a:r>
            <a:r>
              <a:rPr lang="en-US" sz="3000" dirty="0" err="1"/>
              <a:t>lâu</a:t>
            </a:r>
            <a:r>
              <a:rPr lang="en-US" sz="3000" dirty="0"/>
              <a:t> </a:t>
            </a:r>
            <a:r>
              <a:rPr lang="en-US" sz="3000" dirty="0" err="1"/>
              <a:t>dài</a:t>
            </a:r>
            <a:r>
              <a:rPr lang="en-US" sz="3000" dirty="0"/>
              <a:t> </a:t>
            </a:r>
            <a:r>
              <a:rPr lang="en-US" sz="3000" dirty="0" err="1"/>
              <a:t>và</a:t>
            </a:r>
            <a:r>
              <a:rPr lang="en-US" sz="3000" dirty="0"/>
              <a:t> </a:t>
            </a:r>
            <a:r>
              <a:rPr lang="en-US" sz="3000" dirty="0" err="1"/>
              <a:t>tính</a:t>
            </a:r>
            <a:r>
              <a:rPr lang="en-US" sz="3000" dirty="0"/>
              <a:t> </a:t>
            </a:r>
            <a:r>
              <a:rPr lang="en-US" sz="3000" dirty="0" err="1"/>
              <a:t>chính</a:t>
            </a:r>
            <a:r>
              <a:rPr lang="en-US" sz="3000" dirty="0"/>
              <a:t> </a:t>
            </a:r>
            <a:r>
              <a:rPr lang="en-US" sz="3000" dirty="0" err="1"/>
              <a:t>xác</a:t>
            </a:r>
            <a:r>
              <a:rPr lang="en-US" sz="3000" dirty="0"/>
              <a:t> </a:t>
            </a:r>
            <a:r>
              <a:rPr lang="en-US" sz="3000" dirty="0" err="1"/>
              <a:t>tuyệt</a:t>
            </a:r>
            <a:r>
              <a:rPr lang="en-US" sz="3000" dirty="0"/>
              <a:t> </a:t>
            </a:r>
            <a:r>
              <a:rPr lang="en-US" sz="3000" dirty="0" err="1"/>
              <a:t>đối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thông</a:t>
            </a:r>
            <a:r>
              <a:rPr lang="en-US" sz="3000" dirty="0"/>
              <a:t> tin </a:t>
            </a:r>
            <a:r>
              <a:rPr lang="en-US" sz="3000" dirty="0" err="1"/>
              <a:t>trận</a:t>
            </a:r>
            <a:r>
              <a:rPr lang="en-US" sz="3000" dirty="0"/>
              <a:t> </a:t>
            </a:r>
            <a:r>
              <a:rPr lang="en-US" sz="3000" dirty="0" err="1"/>
              <a:t>đấu</a:t>
            </a:r>
            <a:r>
              <a:rPr lang="en-US" sz="3000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US" sz="3000" dirty="0" smtClean="0"/>
              <a:t>- </a:t>
            </a:r>
            <a:r>
              <a:rPr lang="en-US" sz="3000" dirty="0" err="1" smtClean="0"/>
              <a:t>Quy</a:t>
            </a:r>
            <a:r>
              <a:rPr lang="en-US" sz="3000" dirty="0" smtClean="0"/>
              <a:t> </a:t>
            </a:r>
            <a:r>
              <a:rPr lang="en-US" sz="3000" dirty="0" err="1"/>
              <a:t>mô</a:t>
            </a:r>
            <a:r>
              <a:rPr lang="en-US" sz="3000" dirty="0"/>
              <a:t> </a:t>
            </a:r>
            <a:r>
              <a:rPr lang="en-US" sz="3000" dirty="0" err="1"/>
              <a:t>hạ</a:t>
            </a:r>
            <a:r>
              <a:rPr lang="en-US" sz="3000" dirty="0"/>
              <a:t> </a:t>
            </a:r>
            <a:r>
              <a:rPr lang="en-US" sz="3000" dirty="0" err="1"/>
              <a:t>tầng</a:t>
            </a:r>
            <a:r>
              <a:rPr lang="en-US" sz="3000" dirty="0"/>
              <a:t>: </a:t>
            </a:r>
            <a:r>
              <a:rPr lang="en-US" sz="3000" dirty="0" err="1"/>
              <a:t>Việc</a:t>
            </a:r>
            <a:r>
              <a:rPr lang="en-US" sz="3000" dirty="0"/>
              <a:t> </a:t>
            </a:r>
            <a:r>
              <a:rPr lang="en-US" sz="3000" dirty="0" err="1"/>
              <a:t>triển</a:t>
            </a:r>
            <a:r>
              <a:rPr lang="en-US" sz="3000" dirty="0"/>
              <a:t> </a:t>
            </a:r>
            <a:r>
              <a:rPr lang="en-US" sz="3000" dirty="0" err="1"/>
              <a:t>khai</a:t>
            </a:r>
            <a:r>
              <a:rPr lang="en-US" sz="3000" dirty="0"/>
              <a:t> </a:t>
            </a:r>
            <a:r>
              <a:rPr lang="en-US" sz="3000" dirty="0" err="1"/>
              <a:t>trên</a:t>
            </a:r>
            <a:r>
              <a:rPr lang="en-US" sz="3000" dirty="0"/>
              <a:t> </a:t>
            </a:r>
            <a:r>
              <a:rPr lang="en-US" sz="3000" dirty="0" err="1"/>
              <a:t>gói</a:t>
            </a:r>
            <a:r>
              <a:rPr lang="en-US" sz="3000" dirty="0"/>
              <a:t> </a:t>
            </a:r>
            <a:r>
              <a:rPr lang="en-US" sz="3000" dirty="0" err="1"/>
              <a:t>miễn</a:t>
            </a:r>
            <a:r>
              <a:rPr lang="en-US" sz="3000" dirty="0"/>
              <a:t> </a:t>
            </a:r>
            <a:r>
              <a:rPr lang="en-US" sz="3000" dirty="0" err="1"/>
              <a:t>phí</a:t>
            </a:r>
            <a:r>
              <a:rPr lang="en-US" sz="3000" dirty="0"/>
              <a:t> (Free Tier) </a:t>
            </a:r>
            <a:r>
              <a:rPr lang="en-US" sz="3000" dirty="0" err="1"/>
              <a:t>của</a:t>
            </a:r>
            <a:r>
              <a:rPr lang="en-US" sz="3000" dirty="0"/>
              <a:t> Render </a:t>
            </a:r>
            <a:r>
              <a:rPr lang="en-US" sz="3000" dirty="0" err="1"/>
              <a:t>giới</a:t>
            </a:r>
            <a:r>
              <a:rPr lang="en-US" sz="3000" dirty="0"/>
              <a:t> </a:t>
            </a:r>
            <a:r>
              <a:rPr lang="en-US" sz="3000" dirty="0" err="1"/>
              <a:t>hạn</a:t>
            </a:r>
            <a:r>
              <a:rPr lang="en-US" sz="3000" dirty="0"/>
              <a:t> </a:t>
            </a:r>
            <a:r>
              <a:rPr lang="en-US" sz="3000" dirty="0" err="1"/>
              <a:t>tài</a:t>
            </a:r>
            <a:r>
              <a:rPr lang="en-US" sz="3000" dirty="0"/>
              <a:t> </a:t>
            </a:r>
            <a:r>
              <a:rPr lang="en-US" sz="3000" dirty="0" err="1"/>
              <a:t>nguyên</a:t>
            </a:r>
            <a:r>
              <a:rPr lang="en-US" sz="3000" dirty="0"/>
              <a:t> </a:t>
            </a:r>
            <a:r>
              <a:rPr lang="en-US" sz="3000" dirty="0" err="1"/>
              <a:t>phần</a:t>
            </a:r>
            <a:r>
              <a:rPr lang="en-US" sz="3000" dirty="0"/>
              <a:t> </a:t>
            </a:r>
            <a:r>
              <a:rPr lang="en-US" sz="3000" dirty="0" err="1"/>
              <a:t>cứng</a:t>
            </a:r>
            <a:r>
              <a:rPr lang="en-US" sz="3000" dirty="0"/>
              <a:t> (CPU/RAM), do </a:t>
            </a:r>
            <a:r>
              <a:rPr lang="en-US" sz="3000" dirty="0" err="1"/>
              <a:t>đó</a:t>
            </a:r>
            <a:r>
              <a:rPr lang="en-US" sz="3000" dirty="0"/>
              <a:t> </a:t>
            </a:r>
            <a:r>
              <a:rPr lang="en-US" sz="3000" dirty="0" err="1"/>
              <a:t>chưa</a:t>
            </a:r>
            <a:r>
              <a:rPr lang="en-US" sz="3000" dirty="0"/>
              <a:t> </a:t>
            </a:r>
            <a:r>
              <a:rPr lang="en-US" sz="3000" dirty="0" err="1"/>
              <a:t>thể</a:t>
            </a:r>
            <a:r>
              <a:rPr lang="en-US" sz="3000" dirty="0"/>
              <a:t> </a:t>
            </a:r>
            <a:r>
              <a:rPr lang="en-US" sz="3000" dirty="0" err="1"/>
              <a:t>kiểm</a:t>
            </a:r>
            <a:r>
              <a:rPr lang="en-US" sz="3000" dirty="0"/>
              <a:t> </a:t>
            </a:r>
            <a:r>
              <a:rPr lang="en-US" sz="3000" dirty="0" err="1"/>
              <a:t>chứng</a:t>
            </a:r>
            <a:r>
              <a:rPr lang="en-US" sz="3000" dirty="0"/>
              <a:t> </a:t>
            </a:r>
            <a:r>
              <a:rPr lang="en-US" sz="3000" dirty="0" err="1"/>
              <a:t>khả</a:t>
            </a:r>
            <a:r>
              <a:rPr lang="en-US" sz="3000" dirty="0"/>
              <a:t> </a:t>
            </a:r>
            <a:r>
              <a:rPr lang="en-US" sz="3000" dirty="0" err="1"/>
              <a:t>năng</a:t>
            </a:r>
            <a:r>
              <a:rPr lang="en-US" sz="3000" dirty="0"/>
              <a:t> </a:t>
            </a:r>
            <a:r>
              <a:rPr lang="en-US" sz="3000" dirty="0" err="1"/>
              <a:t>chịu</a:t>
            </a:r>
            <a:r>
              <a:rPr lang="en-US" sz="3000" dirty="0"/>
              <a:t> </a:t>
            </a:r>
            <a:r>
              <a:rPr lang="en-US" sz="3000" dirty="0" err="1"/>
              <a:t>tải</a:t>
            </a:r>
            <a:r>
              <a:rPr lang="en-US" sz="3000" dirty="0"/>
              <a:t> </a:t>
            </a:r>
            <a:r>
              <a:rPr lang="en-US" sz="3000" dirty="0" err="1"/>
              <a:t>của</a:t>
            </a:r>
            <a:r>
              <a:rPr lang="en-US" sz="3000" dirty="0"/>
              <a:t> </a:t>
            </a:r>
            <a:r>
              <a:rPr lang="en-US" sz="3000" dirty="0" err="1"/>
              <a:t>hệ</a:t>
            </a:r>
            <a:r>
              <a:rPr lang="en-US" sz="3000" dirty="0"/>
              <a:t> </a:t>
            </a:r>
            <a:r>
              <a:rPr lang="en-US" sz="3000" dirty="0" err="1"/>
              <a:t>thống</a:t>
            </a:r>
            <a:r>
              <a:rPr lang="en-US" sz="3000" dirty="0"/>
              <a:t> </a:t>
            </a:r>
            <a:r>
              <a:rPr lang="en-US" sz="3000" dirty="0" err="1"/>
              <a:t>khi</a:t>
            </a:r>
            <a:r>
              <a:rPr lang="en-US" sz="3000" dirty="0"/>
              <a:t> </a:t>
            </a:r>
            <a:r>
              <a:rPr lang="en-US" sz="3000" dirty="0" err="1"/>
              <a:t>có</a:t>
            </a:r>
            <a:r>
              <a:rPr lang="en-US" sz="3000" dirty="0"/>
              <a:t> </a:t>
            </a:r>
            <a:r>
              <a:rPr lang="en-US" sz="3000" dirty="0" err="1"/>
              <a:t>lượng</a:t>
            </a:r>
            <a:r>
              <a:rPr lang="en-US" sz="3000" dirty="0"/>
              <a:t> </a:t>
            </a:r>
            <a:r>
              <a:rPr lang="en-US" sz="3000" dirty="0" err="1"/>
              <a:t>truy</a:t>
            </a:r>
            <a:r>
              <a:rPr lang="en-US" sz="3000" dirty="0"/>
              <a:t> </a:t>
            </a:r>
            <a:r>
              <a:rPr lang="en-US" sz="3000" dirty="0" err="1"/>
              <a:t>cập</a:t>
            </a:r>
            <a:r>
              <a:rPr lang="en-US" sz="3000" dirty="0"/>
              <a:t> </a:t>
            </a:r>
            <a:r>
              <a:rPr lang="en-US" sz="3000" dirty="0" err="1"/>
              <a:t>lớn</a:t>
            </a:r>
            <a:r>
              <a:rPr lang="en-US" sz="3000" dirty="0"/>
              <a:t> (High Concurrency).</a:t>
            </a:r>
          </a:p>
          <a:p>
            <a:pPr lvl="0">
              <a:lnSpc>
                <a:spcPct val="150000"/>
              </a:lnSpc>
            </a:pPr>
            <a:r>
              <a:rPr lang="en-US" sz="3000" dirty="0" smtClean="0"/>
              <a:t>- </a:t>
            </a:r>
            <a:r>
              <a:rPr lang="en-US" sz="3000" dirty="0" err="1" smtClean="0"/>
              <a:t>Quy</a:t>
            </a:r>
            <a:r>
              <a:rPr lang="en-US" sz="3000" dirty="0" smtClean="0"/>
              <a:t> </a:t>
            </a:r>
            <a:r>
              <a:rPr lang="en-US" sz="3000" dirty="0" err="1"/>
              <a:t>trình</a:t>
            </a:r>
            <a:r>
              <a:rPr lang="en-US" sz="3000" dirty="0"/>
              <a:t> </a:t>
            </a:r>
            <a:r>
              <a:rPr lang="en-US" sz="3000" dirty="0" err="1"/>
              <a:t>kiểm</a:t>
            </a:r>
            <a:r>
              <a:rPr lang="en-US" sz="3000" dirty="0"/>
              <a:t> </a:t>
            </a:r>
            <a:r>
              <a:rPr lang="en-US" sz="3000" dirty="0" err="1"/>
              <a:t>thử</a:t>
            </a:r>
            <a:r>
              <a:rPr lang="en-US" sz="3000" dirty="0"/>
              <a:t>: </a:t>
            </a:r>
            <a:r>
              <a:rPr lang="en-US" sz="3000" dirty="0" err="1"/>
              <a:t>Các</a:t>
            </a:r>
            <a:r>
              <a:rPr lang="en-US" sz="3000" dirty="0"/>
              <a:t> </a:t>
            </a:r>
            <a:r>
              <a:rPr lang="en-US" sz="3000" dirty="0" err="1"/>
              <a:t>kịch</a:t>
            </a:r>
            <a:r>
              <a:rPr lang="en-US" sz="3000" dirty="0"/>
              <a:t> </a:t>
            </a:r>
            <a:r>
              <a:rPr lang="en-US" sz="3000" dirty="0" err="1"/>
              <a:t>bản</a:t>
            </a:r>
            <a:r>
              <a:rPr lang="en-US" sz="3000" dirty="0"/>
              <a:t> </a:t>
            </a:r>
            <a:r>
              <a:rPr lang="en-US" sz="3000" dirty="0" err="1"/>
              <a:t>kiểm</a:t>
            </a:r>
            <a:r>
              <a:rPr lang="en-US" sz="3000" dirty="0"/>
              <a:t> </a:t>
            </a:r>
            <a:r>
              <a:rPr lang="en-US" sz="3000" dirty="0" err="1"/>
              <a:t>thử</a:t>
            </a:r>
            <a:r>
              <a:rPr lang="en-US" sz="3000" dirty="0"/>
              <a:t> (Test Case) </a:t>
            </a:r>
            <a:r>
              <a:rPr lang="en-US" sz="3000" dirty="0" err="1"/>
              <a:t>mới</a:t>
            </a:r>
            <a:r>
              <a:rPr lang="en-US" sz="3000" dirty="0"/>
              <a:t> </a:t>
            </a:r>
            <a:r>
              <a:rPr lang="en-US" sz="3000" dirty="0" err="1"/>
              <a:t>dừng</a:t>
            </a:r>
            <a:r>
              <a:rPr lang="en-US" sz="3000" dirty="0"/>
              <a:t> </a:t>
            </a:r>
            <a:r>
              <a:rPr lang="en-US" sz="3000" dirty="0" err="1"/>
              <a:t>lại</a:t>
            </a:r>
            <a:r>
              <a:rPr lang="en-US" sz="3000" dirty="0"/>
              <a:t> ở </a:t>
            </a:r>
            <a:r>
              <a:rPr lang="en-US" sz="3000" dirty="0" err="1"/>
              <a:t>mức</a:t>
            </a:r>
            <a:r>
              <a:rPr lang="en-US" sz="3000" dirty="0"/>
              <a:t> </a:t>
            </a:r>
            <a:r>
              <a:rPr lang="en-US" sz="3000" dirty="0" err="1"/>
              <a:t>cơ</a:t>
            </a:r>
            <a:r>
              <a:rPr lang="en-US" sz="3000" dirty="0"/>
              <a:t> </a:t>
            </a:r>
            <a:r>
              <a:rPr lang="en-US" sz="3000" dirty="0" err="1"/>
              <a:t>bản</a:t>
            </a:r>
            <a:r>
              <a:rPr lang="en-US" sz="3000" dirty="0"/>
              <a:t> (Unit Test), </a:t>
            </a:r>
            <a:r>
              <a:rPr lang="en-US" sz="3000" dirty="0" err="1"/>
              <a:t>chưa</a:t>
            </a:r>
            <a:r>
              <a:rPr lang="en-US" sz="3000" dirty="0"/>
              <a:t> </a:t>
            </a:r>
            <a:r>
              <a:rPr lang="en-US" sz="3000" dirty="0" err="1"/>
              <a:t>bao</a:t>
            </a:r>
            <a:r>
              <a:rPr lang="en-US" sz="3000" dirty="0"/>
              <a:t> </a:t>
            </a:r>
            <a:r>
              <a:rPr lang="en-US" sz="3000" dirty="0" err="1"/>
              <a:t>gồm</a:t>
            </a:r>
            <a:r>
              <a:rPr lang="en-US" sz="3000" dirty="0"/>
              <a:t> </a:t>
            </a:r>
            <a:r>
              <a:rPr lang="en-US" sz="3000" dirty="0" err="1"/>
              <a:t>các</a:t>
            </a:r>
            <a:r>
              <a:rPr lang="en-US" sz="3000" dirty="0"/>
              <a:t> </a:t>
            </a:r>
            <a:r>
              <a:rPr lang="en-US" sz="3000" dirty="0" err="1"/>
              <a:t>kiểm</a:t>
            </a:r>
            <a:r>
              <a:rPr lang="en-US" sz="3000" dirty="0"/>
              <a:t> </a:t>
            </a:r>
            <a:r>
              <a:rPr lang="en-US" sz="3000" dirty="0" err="1"/>
              <a:t>thử</a:t>
            </a:r>
            <a:r>
              <a:rPr lang="en-US" sz="3000" dirty="0"/>
              <a:t> </a:t>
            </a:r>
            <a:r>
              <a:rPr lang="en-US" sz="3000" dirty="0" err="1"/>
              <a:t>tích</a:t>
            </a:r>
            <a:r>
              <a:rPr lang="en-US" sz="3000" dirty="0"/>
              <a:t> </a:t>
            </a:r>
            <a:r>
              <a:rPr lang="en-US" sz="3000" dirty="0" err="1"/>
              <a:t>hợp</a:t>
            </a:r>
            <a:r>
              <a:rPr lang="en-US" sz="3000" dirty="0"/>
              <a:t> (Integration Test) hay </a:t>
            </a:r>
            <a:r>
              <a:rPr lang="en-US" sz="3000" dirty="0" err="1"/>
              <a:t>kiểm</a:t>
            </a:r>
            <a:r>
              <a:rPr lang="en-US" sz="3000" dirty="0"/>
              <a:t> </a:t>
            </a:r>
            <a:r>
              <a:rPr lang="en-US" sz="3000" dirty="0" err="1"/>
              <a:t>thử</a:t>
            </a:r>
            <a:r>
              <a:rPr lang="en-US" sz="3000" dirty="0"/>
              <a:t> </a:t>
            </a:r>
            <a:r>
              <a:rPr lang="en-US" sz="3000" dirty="0" err="1"/>
              <a:t>hiệu</a:t>
            </a:r>
            <a:r>
              <a:rPr lang="en-US" sz="3000" dirty="0"/>
              <a:t> </a:t>
            </a:r>
            <a:r>
              <a:rPr lang="en-US" sz="3000" dirty="0" err="1"/>
              <a:t>năng</a:t>
            </a:r>
            <a:r>
              <a:rPr lang="en-US" sz="3000" dirty="0"/>
              <a:t> (Performance Test) </a:t>
            </a:r>
            <a:r>
              <a:rPr lang="en-US" sz="3000" dirty="0" err="1"/>
              <a:t>chuyên</a:t>
            </a:r>
            <a:r>
              <a:rPr lang="en-US" sz="3000" dirty="0"/>
              <a:t> </a:t>
            </a:r>
            <a:r>
              <a:rPr lang="en-US" sz="3000" dirty="0" err="1"/>
              <a:t>sâu</a:t>
            </a:r>
            <a:r>
              <a:rPr lang="en-US" sz="3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1467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000" b="1" dirty="0" err="1" smtClean="0"/>
              <a:t>Hướng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phát</a:t>
            </a:r>
            <a:r>
              <a:rPr lang="en-US" sz="4000" b="1" dirty="0" smtClean="0"/>
              <a:t> </a:t>
            </a:r>
            <a:r>
              <a:rPr lang="en-US" sz="4000" b="1" dirty="0" err="1" smtClean="0"/>
              <a:t>triển</a:t>
            </a:r>
            <a:endParaRPr lang="en-US" sz="4000" b="1" dirty="0"/>
          </a:p>
        </p:txBody>
      </p:sp>
      <p:sp>
        <p:nvSpPr>
          <p:cNvPr id="4" name="Rectangle 3"/>
          <p:cNvSpPr/>
          <p:nvPr/>
        </p:nvSpPr>
        <p:spPr>
          <a:xfrm>
            <a:off x="304800" y="1257300"/>
            <a:ext cx="17373600" cy="8402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3000" b="1" dirty="0"/>
              <a:t>1. Nâng cấp Hạ tầng &amp; Công nghệ</a:t>
            </a:r>
            <a:endParaRPr lang="vi-VN" sz="3000" dirty="0"/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Microservices</a:t>
            </a:r>
            <a:r>
              <a:rPr lang="vi-VN" sz="3000" b="1" dirty="0"/>
              <a:t>:</a:t>
            </a:r>
            <a:r>
              <a:rPr lang="vi-VN" sz="3000" dirty="0"/>
              <a:t> Chuyển đổi từ Monolithic sang kiến trúc vi dịch vụ để linh hoạt mở rộng.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Kubernetes </a:t>
            </a:r>
            <a:r>
              <a:rPr lang="vi-VN" sz="3000" b="1" dirty="0"/>
              <a:t>(K8s):</a:t>
            </a:r>
            <a:r>
              <a:rPr lang="vi-VN" sz="3000" dirty="0"/>
              <a:t> Quản lý Container, hỗ trợ Auto-scaling và tự phục hồi (Self-healing).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Infrastructure </a:t>
            </a:r>
            <a:r>
              <a:rPr lang="vi-VN" sz="3000" b="1" dirty="0"/>
              <a:t>as Code (IaC):</a:t>
            </a:r>
            <a:r>
              <a:rPr lang="vi-VN" sz="3000" dirty="0"/>
              <a:t> Tự động hóa hạ tầng bằng Terraform hoặc Ansible.</a:t>
            </a:r>
          </a:p>
          <a:p>
            <a:pPr algn="just">
              <a:lnSpc>
                <a:spcPct val="150000"/>
              </a:lnSpc>
            </a:pPr>
            <a:r>
              <a:rPr lang="vi-VN" sz="3000" b="1" dirty="0"/>
              <a:t>2. Hoàn thiện CI/CD &amp; DevSecOps</a:t>
            </a:r>
            <a:endParaRPr lang="vi-VN" sz="3000" dirty="0"/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DevSecOps</a:t>
            </a:r>
            <a:r>
              <a:rPr lang="vi-VN" sz="3000" b="1" dirty="0"/>
              <a:t>:</a:t>
            </a:r>
            <a:r>
              <a:rPr lang="vi-VN" sz="3000" dirty="0"/>
              <a:t> Tích hợp quét bảo mật (Security Scanning) vào pipeline.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Kiểm </a:t>
            </a:r>
            <a:r>
              <a:rPr lang="vi-VN" sz="3000" b="1" dirty="0"/>
              <a:t>thử nâng cao:</a:t>
            </a:r>
            <a:r>
              <a:rPr lang="vi-VN" sz="3000" dirty="0"/>
              <a:t> Áp dụng Automation Test cho giao diện (Selenium/Cypress).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Chiến </a:t>
            </a:r>
            <a:r>
              <a:rPr lang="vi-VN" sz="3000" b="1" dirty="0"/>
              <a:t>lược triển khai:</a:t>
            </a:r>
            <a:r>
              <a:rPr lang="vi-VN" sz="3000" dirty="0"/>
              <a:t> Áp dụng Blue-Green hoặc Canary Deployment để giảm thiểu rủi ro.</a:t>
            </a:r>
          </a:p>
          <a:p>
            <a:pPr algn="just">
              <a:lnSpc>
                <a:spcPct val="150000"/>
              </a:lnSpc>
            </a:pPr>
            <a:r>
              <a:rPr lang="vi-VN" sz="3000" b="1" dirty="0"/>
              <a:t>3. Mở rộng Tính năng &amp; Trải nghiệm</a:t>
            </a:r>
            <a:endParaRPr lang="vi-VN" sz="3000" dirty="0"/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Dữ </a:t>
            </a:r>
            <a:r>
              <a:rPr lang="vi-VN" sz="3000" b="1" dirty="0"/>
              <a:t>liệu thực:</a:t>
            </a:r>
            <a:r>
              <a:rPr lang="vi-VN" sz="3000" dirty="0"/>
              <a:t> Tích hợp Real-time Database (MySQL/MongoDB) và API bóng đá thực tế.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Giám </a:t>
            </a:r>
            <a:r>
              <a:rPr lang="vi-VN" sz="3000" b="1" dirty="0"/>
              <a:t>sát (Monitoring):</a:t>
            </a:r>
            <a:r>
              <a:rPr lang="vi-VN" sz="3000" dirty="0"/>
              <a:t> Sử dụng ELK Stack hoặc Prometheus/Grafana để theo dõi hệ thống.</a:t>
            </a:r>
          </a:p>
          <a:p>
            <a:pPr lvl="1" algn="just">
              <a:lnSpc>
                <a:spcPct val="150000"/>
              </a:lnSpc>
            </a:pPr>
            <a:r>
              <a:rPr lang="en-US" sz="3000" b="1" dirty="0" smtClean="0"/>
              <a:t>- </a:t>
            </a:r>
            <a:r>
              <a:rPr lang="vi-VN" sz="3000" b="1" dirty="0" smtClean="0"/>
              <a:t>Đa </a:t>
            </a:r>
            <a:r>
              <a:rPr lang="vi-VN" sz="3000" b="1" dirty="0"/>
              <a:t>nền tảng:</a:t>
            </a:r>
            <a:r>
              <a:rPr lang="vi-VN" sz="3000" dirty="0"/>
              <a:t> Phát triển ứng dụng Mobile (React Native/Flutter).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9600" y="958453"/>
            <a:ext cx="786660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4000" b="1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" y="2400300"/>
            <a:ext cx="17449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vi-VN" sz="3000" b="1" dirty="0" smtClean="0"/>
              <a:t>Hoàn </a:t>
            </a:r>
            <a:r>
              <a:rPr lang="vi-VN" sz="3000" b="1" dirty="0"/>
              <a:t>thành mục tiêu đề ra</a:t>
            </a:r>
            <a:r>
              <a:rPr lang="vi-VN" sz="3000" b="1" dirty="0" smtClean="0"/>
              <a:t>:</a:t>
            </a:r>
            <a:endParaRPr lang="en-US" sz="3000" b="1" dirty="0"/>
          </a:p>
          <a:p>
            <a:pPr lvl="1" algn="just"/>
            <a:r>
              <a:rPr lang="en-US" sz="3000" dirty="0" smtClean="0">
                <a:latin typeface="Arial" pitchFamily="34" charset="0"/>
                <a:cs typeface="Arial" pitchFamily="34" charset="0"/>
              </a:rPr>
              <a:t>-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Hiểu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về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DevOps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và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quy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3000" dirty="0" err="1" smtClean="0">
                <a:latin typeface="Arial" pitchFamily="34" charset="0"/>
                <a:cs typeface="Arial" pitchFamily="34" charset="0"/>
              </a:rPr>
              <a:t>trình</a:t>
            </a:r>
            <a:r>
              <a:rPr lang="en-US" sz="3000" dirty="0" smtClean="0">
                <a:latin typeface="Arial" pitchFamily="34" charset="0"/>
                <a:cs typeface="Arial" pitchFamily="34" charset="0"/>
              </a:rPr>
              <a:t> CI/CD</a:t>
            </a:r>
            <a:endParaRPr lang="vi-VN" sz="3000" dirty="0">
              <a:latin typeface="Arial" pitchFamily="34" charset="0"/>
              <a:cs typeface="Arial" pitchFamily="34" charset="0"/>
            </a:endParaRPr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Xây </a:t>
            </a:r>
            <a:r>
              <a:rPr lang="vi-VN" sz="3000" dirty="0"/>
              <a:t>dựng thành công ứng dụng Web Live Score (Java Spring Boot) với đầy đủ tính năng.</a:t>
            </a:r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Thiết </a:t>
            </a:r>
            <a:r>
              <a:rPr lang="vi-VN" sz="3000" dirty="0"/>
              <a:t>lập quy trình CI/CD tự động hóa 100% từ GitHub đến Render.</a:t>
            </a:r>
          </a:p>
          <a:p>
            <a:pPr algn="just"/>
            <a:r>
              <a:rPr lang="vi-VN" sz="3000" b="1" dirty="0"/>
              <a:t>2. Hiệu quả của giải pháp DevOps:</a:t>
            </a:r>
            <a:endParaRPr lang="vi-VN" sz="3000" dirty="0"/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Tốc </a:t>
            </a:r>
            <a:r>
              <a:rPr lang="vi-VN" sz="3000" dirty="0"/>
              <a:t>độ: Rút ngắn thời gian triển khai từ hàng giờ xuống còn ~3 phút.</a:t>
            </a:r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Tin </a:t>
            </a:r>
            <a:r>
              <a:rPr lang="vi-VN" sz="3000" dirty="0"/>
              <a:t>cậy: Loại bỏ hoàn toàn lỗi cấu hình thủ công nhờ Docker.</a:t>
            </a:r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Ổn </a:t>
            </a:r>
            <a:r>
              <a:rPr lang="vi-VN" sz="3000" dirty="0"/>
              <a:t>định: Đảm bảo tính nhất quán giữa môi trường Dev và Production.</a:t>
            </a:r>
          </a:p>
          <a:p>
            <a:pPr algn="just"/>
            <a:r>
              <a:rPr lang="vi-VN" sz="3000" b="1" dirty="0"/>
              <a:t>3. Đóng góp thực tiễn:</a:t>
            </a:r>
            <a:endParaRPr lang="vi-VN" sz="3000" dirty="0"/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Cung </a:t>
            </a:r>
            <a:r>
              <a:rPr lang="vi-VN" sz="3000" dirty="0"/>
              <a:t>cấp một mô hình tham chiếu chuẩn cho việc áp dụng DevOps vào các dự án phần mềm quy mô vừa và nhỏ.</a:t>
            </a:r>
          </a:p>
          <a:p>
            <a:pPr lvl="1" algn="just"/>
            <a:r>
              <a:rPr lang="en-US" sz="3000" dirty="0" smtClean="0"/>
              <a:t>- </a:t>
            </a:r>
            <a:r>
              <a:rPr lang="vi-VN" sz="3000" dirty="0" smtClean="0"/>
              <a:t>Minh </a:t>
            </a:r>
            <a:r>
              <a:rPr lang="vi-VN" sz="3000" dirty="0"/>
              <a:t>chứng rõ nét sự chuyển dịch từ quy trình thủ công sang tự động hóa hiện đại.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27652" y="3645812"/>
            <a:ext cx="12596366" cy="1748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Bài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thuyết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trình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đến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đây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xin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được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phép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kết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thúc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!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Chân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thành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cảm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ơn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mọi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người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đã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chú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ý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lắng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4000" dirty="0" err="1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nghe</a:t>
            </a:r>
            <a:r>
              <a:rPr lang="en-US" sz="4000" dirty="0" smtClean="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! </a:t>
            </a:r>
            <a:endParaRPr lang="en-US" sz="4000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2054</Words>
  <Application>Microsoft Office PowerPoint</Application>
  <PresentationFormat>Custom</PresentationFormat>
  <Paragraphs>168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4" baseType="lpstr">
      <vt:lpstr>Arial</vt:lpstr>
      <vt:lpstr>Times New Roman MT Bold</vt:lpstr>
      <vt:lpstr>SimSun</vt:lpstr>
      <vt:lpstr>Cambria</vt:lpstr>
      <vt:lpstr>Arial Unicode MS</vt:lpstr>
      <vt:lpstr>Times New Roman</vt:lpstr>
      <vt:lpstr>Calibri</vt:lpstr>
      <vt:lpstr>Noto Sans Bold</vt:lpstr>
      <vt:lpstr>Noto Sans</vt:lpstr>
      <vt:lpstr>Times New Roman MT</vt:lpstr>
      <vt:lpstr>Courier New</vt:lpstr>
      <vt:lpstr>Symbol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Cấu trúc đồ án</vt:lpstr>
      <vt:lpstr>Phương pháp thực hiện</vt:lpstr>
      <vt:lpstr>PowerPoint Presentation</vt:lpstr>
      <vt:lpstr>PowerPoint Presentation</vt:lpstr>
      <vt:lpstr>PowerPoint Presentation</vt:lpstr>
      <vt:lpstr> So sánh triển khai</vt:lpstr>
      <vt:lpstr>DOCKER &amp; CONTAINER</vt:lpstr>
      <vt:lpstr>DOCKER vs VIRTUAL MACHINE</vt:lpstr>
      <vt:lpstr>GITHUB ACTIONS</vt:lpstr>
      <vt:lpstr>CÔNG NGHỆ SỬ DỤNG</vt:lpstr>
      <vt:lpstr>KIẾN TRÚC HỆ THỐNG</vt:lpstr>
      <vt:lpstr> GIAO DIỆN TRANG CHỦ</vt:lpstr>
      <vt:lpstr>GIAO DIỆN CHI TIẾT</vt:lpstr>
      <vt:lpstr>Quy trình CI/CD thực tế</vt:lpstr>
      <vt:lpstr>GitHub Actions</vt:lpstr>
      <vt:lpstr>Docker Hub</vt:lpstr>
      <vt:lpstr>Cấu hình môi trường ảo</vt:lpstr>
      <vt:lpstr>Chạy môi trường ảo</vt:lpstr>
      <vt:lpstr>Kết quả đạt được</vt:lpstr>
      <vt:lpstr>Trang chi tiết</vt:lpstr>
      <vt:lpstr>Kết quả đạt được</vt:lpstr>
      <vt:lpstr>Đánh giá hiệu năng và Trải nghiệm</vt:lpstr>
      <vt:lpstr>Hạn chế</vt:lpstr>
      <vt:lpstr>Hướng phát triển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chuyên ngành</dc:title>
  <cp:lastModifiedBy>LENOVO</cp:lastModifiedBy>
  <cp:revision>21</cp:revision>
  <dcterms:created xsi:type="dcterms:W3CDTF">2006-08-16T00:00:00Z</dcterms:created>
  <dcterms:modified xsi:type="dcterms:W3CDTF">2025-12-31T14:28:42Z</dcterms:modified>
  <dc:identifier>DAG85TLI16Q</dc:identifier>
</cp:coreProperties>
</file>